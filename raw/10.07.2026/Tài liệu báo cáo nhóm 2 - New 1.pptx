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8"/>
  </p:notesMasterIdLst>
  <p:sldIdLst>
    <p:sldId id="2123260116" r:id="rId2"/>
    <p:sldId id="260" r:id="rId3"/>
    <p:sldId id="2123260117" r:id="rId4"/>
    <p:sldId id="2123260118" r:id="rId5"/>
    <p:sldId id="2123260119" r:id="rId6"/>
    <p:sldId id="2123260120" r:id="rId7"/>
    <p:sldId id="2123260121" r:id="rId8"/>
    <p:sldId id="2123260122" r:id="rId9"/>
    <p:sldId id="2123260123" r:id="rId10"/>
    <p:sldId id="2123260125" r:id="rId11"/>
    <p:sldId id="2123260126" r:id="rId12"/>
    <p:sldId id="2123260124" r:id="rId13"/>
    <p:sldId id="2123260127" r:id="rId14"/>
    <p:sldId id="2123260128" r:id="rId15"/>
    <p:sldId id="258" r:id="rId16"/>
    <p:sldId id="214747418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1"/>
    <p:restoredTop sz="94648"/>
  </p:normalViewPr>
  <p:slideViewPr>
    <p:cSldViewPr snapToGrid="0">
      <p:cViewPr varScale="1">
        <p:scale>
          <a:sx n="73" d="100"/>
          <a:sy n="73" d="100"/>
        </p:scale>
        <p:origin x="5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>
                <a:latin typeface="+mj-lt"/>
              </a:rPr>
              <a:t>Thời gian </a:t>
            </a:r>
            <a:r>
              <a:rPr lang="en-US" sz="2128" b="1" i="0" u="none" strike="noStrike" baseline="0" err="1">
                <a:latin typeface="+mj-lt"/>
              </a:rPr>
              <a:t>làm</a:t>
            </a:r>
            <a:r>
              <a:rPr lang="en-US" sz="2128" b="1" i="0" u="none" strike="noStrike" baseline="0">
                <a:latin typeface="+mj-lt"/>
              </a:rPr>
              <a:t> chi </a:t>
            </a:r>
            <a:r>
              <a:rPr lang="en-US" sz="2128" b="1" i="0" u="none" strike="noStrike" baseline="0" err="1">
                <a:latin typeface="+mj-lt"/>
              </a:rPr>
              <a:t>phí</a:t>
            </a:r>
            <a:r>
              <a:rPr lang="en-US" sz="2128" b="1" i="0" u="none" strike="noStrike" baseline="0">
                <a:latin typeface="+mj-lt"/>
              </a:rPr>
              <a:t> </a:t>
            </a:r>
            <a:r>
              <a:rPr lang="en-US" sz="2128" b="1" i="0" u="none" strike="noStrike" baseline="0" err="1">
                <a:latin typeface="+mj-lt"/>
              </a:rPr>
              <a:t>chung</a:t>
            </a:r>
            <a:r>
              <a:rPr lang="en-US" sz="2128" b="1" i="0" u="none" strike="noStrike" baseline="0">
                <a:latin typeface="+mj-lt"/>
              </a:rPr>
              <a:t> MP</a:t>
            </a:r>
            <a:endParaRPr lang="en-US">
              <a:latin typeface="+mj-lt"/>
            </a:endParaRPr>
          </a:p>
        </c:rich>
      </c:tx>
      <c:layout>
        <c:manualLayout>
          <c:xMode val="edge"/>
          <c:yMode val="edge"/>
          <c:x val="0.22252765851285367"/>
          <c:y val="0.107070628348031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(h)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4000"/>
                  </a:schemeClr>
                </a:gs>
                <a:gs pos="100000">
                  <a:schemeClr val="accent2">
                    <a:shade val="98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KTCT</c:v>
                </c:pt>
                <c:pt idx="1">
                  <c:v>QCCLCĐM</c:v>
                </c:pt>
                <c:pt idx="2">
                  <c:v>QA </c:v>
                </c:pt>
                <c:pt idx="3">
                  <c:v>QLCLLK </c:v>
                </c:pt>
                <c:pt idx="4">
                  <c:v>KTLK</c:v>
                </c:pt>
                <c:pt idx="5">
                  <c:v>KTSX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24</c:v>
                </c:pt>
                <c:pt idx="2">
                  <c:v>12</c:v>
                </c:pt>
                <c:pt idx="3">
                  <c:v>17</c:v>
                </c:pt>
                <c:pt idx="4">
                  <c:v>5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23-462B-8AFC-B5B01CF1D8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70473152"/>
        <c:axId val="1170466312"/>
        <c:axId val="192304720"/>
      </c:bar3DChart>
      <c:catAx>
        <c:axId val="11704731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vi-VN"/>
                  <a:t>(h)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"/>
              <c:y val="0.228068269365472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466312"/>
        <c:crosses val="autoZero"/>
        <c:auto val="1"/>
        <c:lblAlgn val="ctr"/>
        <c:lblOffset val="100"/>
        <c:noMultiLvlLbl val="0"/>
      </c:catAx>
      <c:valAx>
        <c:axId val="1170466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473152"/>
        <c:crosses val="autoZero"/>
        <c:crossBetween val="between"/>
      </c:valAx>
      <c:serAx>
        <c:axId val="1923047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466312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1463582677165349E-2"/>
          <c:y val="9.8519432915881347E-2"/>
          <c:w val="0.92541141732283461"/>
          <c:h val="0.76772959105994154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(h)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4000"/>
                  </a:schemeClr>
                </a:gs>
                <a:gs pos="100000">
                  <a:schemeClr val="accent4">
                    <a:shade val="98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3.1475837646432081E-2"/>
                  <c:y val="-0.3907624217852062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28DE740-D2B8-473B-928A-98BBC9D1F14F}" type="VALUE">
                      <a:rPr lang="en-US" sz="1800" b="1"/>
                      <a:pPr>
                        <a:defRPr/>
                      </a:pPr>
                      <a:t>[VALUE]</a:t>
                    </a:fld>
                    <a:r>
                      <a:rPr lang="en-US" sz="1800" b="1"/>
                      <a:t>h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792854643941394E-2"/>
                      <c:h val="8.553366260615474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B47-4ACF-A311-D90461D298BD}"/>
                </c:ext>
              </c:extLst>
            </c:dLbl>
            <c:dLbl>
              <c:idx val="1"/>
              <c:layout>
                <c:manualLayout>
                  <c:x val="3.8102408734882631E-2"/>
                  <c:y val="-0.3151309853106502"/>
                </c:manualLayout>
              </c:layout>
              <c:tx>
                <c:rich>
                  <a:bodyPr/>
                  <a:lstStyle/>
                  <a:p>
                    <a:fld id="{CB45B016-0A0D-445E-9567-4D40D6AA94AD}" type="VALUE">
                      <a:rPr lang="en-US" sz="1800" b="1"/>
                      <a:pPr/>
                      <a:t>[VALUE]</a:t>
                    </a:fld>
                    <a:r>
                      <a:rPr lang="en-US" sz="1600" b="1"/>
                      <a:t>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B47-4ACF-A311-D90461D298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Thời gian hiện tại</c:v>
                </c:pt>
                <c:pt idx="1">
                  <c:v>Thời gian sau khi giảm được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68.599999999999994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47-4ACF-A311-D90461D298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484088448"/>
        <c:axId val="484088808"/>
        <c:axId val="0"/>
      </c:bar3DChart>
      <c:catAx>
        <c:axId val="4840884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4088808"/>
        <c:crosses val="autoZero"/>
        <c:auto val="1"/>
        <c:lblAlgn val="ctr"/>
        <c:lblOffset val="100"/>
        <c:noMultiLvlLbl val="0"/>
      </c:catAx>
      <c:valAx>
        <c:axId val="4840888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4088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FD5E7-B728-4FE5-AAEC-8AA8F30E346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50E49-DF2C-45D6-AFC9-974E9EEC2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3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Xin </a:t>
            </a:r>
            <a:r>
              <a:rPr kumimoji="1" lang="en-US" altLang="ja-JP" err="1"/>
              <a:t>chào</a:t>
            </a:r>
            <a:r>
              <a:rPr kumimoji="1" lang="en-US" altLang="ja-JP"/>
              <a:t>.</a:t>
            </a:r>
          </a:p>
          <a:p>
            <a:r>
              <a:rPr kumimoji="1" lang="en-US" altLang="ja-JP"/>
              <a:t>E </a:t>
            </a:r>
            <a:r>
              <a:rPr kumimoji="1" lang="en-US" altLang="ja-JP" err="1"/>
              <a:t>là</a:t>
            </a:r>
            <a:r>
              <a:rPr kumimoji="1" lang="en-US" altLang="ja-JP"/>
              <a:t> Phương Anh, </a:t>
            </a:r>
            <a:r>
              <a:rPr kumimoji="1" lang="en-US" altLang="ja-JP" err="1"/>
              <a:t>sau</a:t>
            </a:r>
            <a:r>
              <a:rPr kumimoji="1" lang="en-US" altLang="ja-JP"/>
              <a:t> </a:t>
            </a:r>
            <a:r>
              <a:rPr kumimoji="1" lang="en-US" altLang="ja-JP" err="1"/>
              <a:t>đây</a:t>
            </a:r>
            <a:r>
              <a:rPr kumimoji="1" lang="en-US" altLang="ja-JP"/>
              <a:t> e </a:t>
            </a:r>
            <a:r>
              <a:rPr kumimoji="1" lang="en-US" altLang="ja-JP" err="1"/>
              <a:t>xin</a:t>
            </a:r>
            <a:r>
              <a:rPr kumimoji="1" lang="en-US" altLang="ja-JP"/>
              <a:t> </a:t>
            </a:r>
            <a:r>
              <a:rPr kumimoji="1" lang="en-US" altLang="ja-JP" err="1"/>
              <a:t>thay</a:t>
            </a:r>
            <a:r>
              <a:rPr kumimoji="1" lang="en-US" altLang="ja-JP"/>
              <a:t> </a:t>
            </a:r>
            <a:r>
              <a:rPr kumimoji="1" lang="en-US" altLang="ja-JP" err="1"/>
              <a:t>mặt</a:t>
            </a:r>
            <a:r>
              <a:rPr kumimoji="1" lang="en-US" altLang="ja-JP"/>
              <a:t> </a:t>
            </a:r>
            <a:r>
              <a:rPr kumimoji="1" lang="en-US" altLang="ja-JP" err="1"/>
              <a:t>nhóm</a:t>
            </a:r>
            <a:r>
              <a:rPr kumimoji="1" lang="en-US" altLang="ja-JP"/>
              <a:t> 2 </a:t>
            </a:r>
            <a:r>
              <a:rPr kumimoji="1" lang="en-US" altLang="ja-JP" err="1"/>
              <a:t>trình</a:t>
            </a:r>
            <a:r>
              <a:rPr kumimoji="1" lang="en-US" altLang="ja-JP"/>
              <a:t> </a:t>
            </a:r>
            <a:r>
              <a:rPr kumimoji="1" lang="en-US" altLang="ja-JP" err="1"/>
              <a:t>bày</a:t>
            </a:r>
            <a:r>
              <a:rPr kumimoji="1" lang="en-US" altLang="ja-JP"/>
              <a:t> </a:t>
            </a:r>
            <a:r>
              <a:rPr kumimoji="1" lang="en-US" altLang="ja-JP" err="1"/>
              <a:t>về</a:t>
            </a:r>
            <a:r>
              <a:rPr kumimoji="1" lang="en-US" altLang="ja-JP"/>
              <a:t> </a:t>
            </a:r>
            <a:r>
              <a:rPr kumimoji="1" lang="en-US" altLang="ja-JP" err="1"/>
              <a:t>nội</a:t>
            </a:r>
            <a:r>
              <a:rPr kumimoji="1" lang="en-US" altLang="ja-JP"/>
              <a:t> dung </a:t>
            </a:r>
            <a:r>
              <a:rPr kumimoji="1" lang="en-US" altLang="ja-JP" err="1"/>
              <a:t>thuyết</a:t>
            </a:r>
            <a:r>
              <a:rPr kumimoji="1" lang="en-US" altLang="ja-JP"/>
              <a:t> </a:t>
            </a:r>
            <a:r>
              <a:rPr kumimoji="1" lang="en-US" altLang="ja-JP" err="1"/>
              <a:t>trình</a:t>
            </a:r>
            <a:r>
              <a:rPr kumimoji="1" lang="en-US" altLang="ja-JP"/>
              <a:t> </a:t>
            </a:r>
            <a:r>
              <a:rPr kumimoji="1" lang="en-US" altLang="ja-JP" err="1"/>
              <a:t>của</a:t>
            </a:r>
            <a:r>
              <a:rPr kumimoji="1" lang="en-US" altLang="ja-JP"/>
              <a:t> </a:t>
            </a:r>
            <a:r>
              <a:rPr kumimoji="1" lang="en-US" altLang="ja-JP" err="1"/>
              <a:t>nhóm</a:t>
            </a:r>
            <a:r>
              <a:rPr kumimoji="1" lang="en-US" altLang="ja-JP"/>
              <a:t> </a:t>
            </a:r>
            <a:r>
              <a:rPr kumimoji="1" lang="en-US" altLang="ja-JP" err="1"/>
              <a:t>ngày</a:t>
            </a:r>
            <a:r>
              <a:rPr kumimoji="1" lang="en-US" altLang="ja-JP"/>
              <a:t> </a:t>
            </a:r>
            <a:r>
              <a:rPr kumimoji="1" lang="en-US" altLang="ja-JP" err="1"/>
              <a:t>hôm</a:t>
            </a:r>
            <a:r>
              <a:rPr kumimoji="1" lang="en-US" altLang="ja-JP"/>
              <a:t> nay.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B736C-7E22-4286-9492-6D135922483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60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CD05-78FC-4791-90D3-6CE91100B820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244016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BDDC-8FA8-42D1-BE05-F1A04982128E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40577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3C54-FF6F-4539-A2F6-BD48F508B9FD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332028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3AE9-FEA7-445E-B612-27A508C68F04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306329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4A50B-5CDF-406E-9DD8-53BCDAD9B197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383673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F1DC-1059-4835-B081-270157DF826C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352490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786D-58ED-408F-89EA-CC7495C8CB9F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34481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F350-CA89-4364-AE0F-2AA8C26E7758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1837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B0D6-1D63-4E16-9605-7AF7BAF12A16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208231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BAAEA-BF76-4417-A962-72A960F77FBC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1186681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93A7-0D43-4B84-AD33-5ADD5B552C7F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8443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5C34-F088-43F6-88F1-4C316BF3E7AA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3499583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89B0-1EF5-42B5-83BD-04D56757DDD2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9584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6FBE-5C98-4B1F-9F08-C5446CDA6AAE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119949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E1A3-831E-4AE6-92E4-D669F5F6C01A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54325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CACD3-6935-49ED-B90E-7F524CD8413E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V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2984512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表紙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絵と文字の加工写真&#10;&#10;低い精度で自動的に生成された説明">
            <a:extLst>
              <a:ext uri="{FF2B5EF4-FFF2-40B4-BE49-F238E27FC236}">
                <a16:creationId xmlns:a16="http://schemas.microsoft.com/office/drawing/2014/main" id="{49FC8EDF-1E53-0784-015A-50BF390392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2"/>
            <a:ext cx="12192000" cy="6853968"/>
          </a:xfrm>
          <a:prstGeom prst="rect">
            <a:avLst/>
          </a:prstGeom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39A7D7A2-81C9-62EC-56D5-8D20A87956CF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94" y="387924"/>
            <a:ext cx="1896690" cy="4171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1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F114BEFE-30F4-06E8-6BE0-619CDBC06F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27" y="6523613"/>
            <a:ext cx="1032653" cy="2271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3159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154AA-74F2-4F1B-BEB9-F36EB0C49CCB}" type="datetime1">
              <a:rPr kumimoji="1" lang="LID4096" altLang="en-US" smtClean="0"/>
              <a:t>07/09/2026</a:t>
            </a:fld>
            <a:endParaRPr kumimoji="1" lang="ja-V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V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2E3B4ED-CC1B-714C-AC64-E02BE599682D}" type="slidenum">
              <a:rPr kumimoji="1" lang="ja-VN" altLang="en-US" smtClean="0"/>
              <a:t>‹#›</a:t>
            </a:fld>
            <a:endParaRPr kumimoji="1" lang="ja-VN" altLang="en-US"/>
          </a:p>
        </p:txBody>
      </p:sp>
    </p:spTree>
    <p:extLst>
      <p:ext uri="{BB962C8B-B14F-4D97-AF65-F5344CB8AC3E}">
        <p14:creationId xmlns:p14="http://schemas.microsoft.com/office/powerpoint/2010/main" val="175549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kdcf.sharepoint.com/:v:/r/sites/kdtvn_MED/QualityDocument/Video%20Project.mp4?csf=1&amp;web=1&amp;e=7KDVib" TargetMode="Externa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file:///D:\Setup\Desktop\MP2027\new\FORM.xlsx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file:///\\fstvn01\Data\00_KDTVN%20Common(KDTVN&#20849;&#36890;)\&#9316;Production%20Engineering(&#35069;&#36896;&#25216;&#34899;)\&#9734;File%20c&#7847;n%20l&#432;u%20l&#7841;i%20&#37325;&#35201;&#12501;&#12449;&#12452;&#12523;&#65288;&#10082;&#65289;\PA\Video.7z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C858B-9A65-3F1F-2956-C0A41166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DC3273-505D-AA44-F8FD-B1AC86B224DB}"/>
              </a:ext>
            </a:extLst>
          </p:cNvPr>
          <p:cNvSpPr txBox="1"/>
          <p:nvPr/>
        </p:nvSpPr>
        <p:spPr>
          <a:xfrm>
            <a:off x="450033" y="1406660"/>
            <a:ext cx="1069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Hoạt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động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nhóm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2: </a:t>
            </a:r>
          </a:p>
          <a:p>
            <a:pPr lvl="0">
              <a:defRPr/>
            </a:pP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Tiết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giảm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thời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gian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nghiệp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vụ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làm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dự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tính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chi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phí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chung</a:t>
            </a:r>
            <a:r>
              <a:rPr kumimoji="1" lang="en-US" altLang="ja-JP" sz="3200" b="1" dirty="0">
                <a:solidFill>
                  <a:prstClr val="black"/>
                </a:solidFill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MP</a:t>
            </a:r>
            <a:endParaRPr kumimoji="1" lang="ja-JP" altLang="en-US" sz="3200" b="1" dirty="0">
              <a:solidFill>
                <a:prstClr val="black"/>
              </a:solidFill>
              <a:latin typeface="Times" panose="02020603050405020304" pitchFamily="18" charset="0"/>
              <a:ea typeface="Meiryo UI" panose="020B0604030504040204" pitchFamily="50" charset="-128"/>
              <a:cs typeface="Times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84D7BA-A189-D72A-91AC-9B38A96B0A64}"/>
              </a:ext>
            </a:extLst>
          </p:cNvPr>
          <p:cNvSpPr txBox="1"/>
          <p:nvPr/>
        </p:nvSpPr>
        <p:spPr>
          <a:xfrm>
            <a:off x="450033" y="3059668"/>
            <a:ext cx="103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KDTVN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2">
            <a:extLst>
              <a:ext uri="{FF2B5EF4-FFF2-40B4-BE49-F238E27FC236}">
                <a16:creationId xmlns:a16="http://schemas.microsoft.com/office/drawing/2014/main" id="{A965ED61-B8BE-E39A-1FAC-82699887CD86}"/>
              </a:ext>
            </a:extLst>
          </p:cNvPr>
          <p:cNvSpPr txBox="1"/>
          <p:nvPr/>
        </p:nvSpPr>
        <p:spPr>
          <a:xfrm>
            <a:off x="450033" y="2677528"/>
            <a:ext cx="221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="1" dirty="0" err="1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Ngày</a:t>
            </a:r>
            <a:r>
              <a:rPr lang="en-US" altLang="ja-JP" sz="1400" b="1" dirty="0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09 </a:t>
            </a:r>
            <a:r>
              <a:rPr lang="en-US" altLang="ja-JP" sz="1400" b="1" dirty="0" err="1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tháng</a:t>
            </a:r>
            <a:r>
              <a:rPr lang="en-US" altLang="ja-JP" sz="1400" b="1" dirty="0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7 </a:t>
            </a:r>
            <a:r>
              <a:rPr lang="en-US" altLang="ja-JP" sz="1400" b="1" dirty="0" err="1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năm</a:t>
            </a:r>
            <a:r>
              <a:rPr lang="en-US" altLang="ja-JP" sz="1400" b="1" dirty="0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2026</a:t>
            </a:r>
            <a:endParaRPr lang="ja-JP" altLang="en-US" sz="1400" b="1" dirty="0">
              <a:latin typeface="Times" panose="02020603050405020304" pitchFamily="18" charset="0"/>
              <a:ea typeface="Meiryo UI" panose="020B0604030504040204" pitchFamily="50" charset="-128"/>
              <a:cs typeface="Times" panose="020206030504050203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FA24F0-417B-84ED-D98E-F7A896F9147D}"/>
              </a:ext>
            </a:extLst>
          </p:cNvPr>
          <p:cNvSpPr txBox="1"/>
          <p:nvPr/>
        </p:nvSpPr>
        <p:spPr>
          <a:xfrm>
            <a:off x="450033" y="3503363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err="1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Nhóm</a:t>
            </a:r>
            <a:r>
              <a:rPr kumimoji="1" lang="en-US" altLang="ja-JP" sz="1400" b="1">
                <a:latin typeface="Times" panose="02020603050405020304" pitchFamily="18" charset="0"/>
                <a:ea typeface="Meiryo UI" panose="020B0604030504040204" pitchFamily="50" charset="-128"/>
                <a:cs typeface="Times" panose="02020603050405020304" pitchFamily="18" charset="0"/>
              </a:rPr>
              <a:t> 2</a:t>
            </a:r>
            <a:endParaRPr kumimoji="1" lang="ja-JP" altLang="en-US" sz="1700" b="1">
              <a:latin typeface="Times" panose="02020603050405020304" pitchFamily="18" charset="0"/>
              <a:ea typeface="Meiryo UI" panose="020B0604030504040204" pitchFamily="50" charset="-128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10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63F9D-AF7D-699B-E69C-2F0AE3D3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2</a:t>
            </a:fld>
            <a:endParaRPr kumimoji="1" lang="ja-VN" altLang="en-US"/>
          </a:p>
        </p:txBody>
      </p:sp>
      <p:sp>
        <p:nvSpPr>
          <p:cNvPr id="13" name="テキスト ボックス 1">
            <a:extLst>
              <a:ext uri="{FF2B5EF4-FFF2-40B4-BE49-F238E27FC236}">
                <a16:creationId xmlns:a16="http://schemas.microsoft.com/office/drawing/2014/main" id="{B4F9C9A8-C300-4D5A-75E9-6908F4162588}"/>
              </a:ext>
            </a:extLst>
          </p:cNvPr>
          <p:cNvSpPr txBox="1"/>
          <p:nvPr/>
        </p:nvSpPr>
        <p:spPr>
          <a:xfrm>
            <a:off x="4313001" y="88150"/>
            <a:ext cx="3054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3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 dirty="0" err="1"/>
              <a:t>Giới</a:t>
            </a:r>
            <a:r>
              <a:rPr lang="en-US" altLang="ja-JP" dirty="0"/>
              <a:t> </a:t>
            </a:r>
            <a:r>
              <a:rPr lang="en-US" altLang="ja-JP" dirty="0" err="1"/>
              <a:t>thiệu</a:t>
            </a:r>
            <a:r>
              <a:rPr lang="en-US" altLang="ja-JP" dirty="0"/>
              <a:t> </a:t>
            </a:r>
            <a:r>
              <a:rPr lang="en-US" altLang="ja-JP" dirty="0" err="1"/>
              <a:t>nhóm</a:t>
            </a:r>
            <a:endParaRPr lang="ja-JP" altLang="en-US" dirty="0"/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4E424AB6-D357-B0CA-03C1-8916ABF8B430}"/>
              </a:ext>
            </a:extLst>
          </p:cNvPr>
          <p:cNvGrpSpPr/>
          <p:nvPr/>
        </p:nvGrpSpPr>
        <p:grpSpPr>
          <a:xfrm>
            <a:off x="444500" y="901700"/>
            <a:ext cx="3289300" cy="2425700"/>
            <a:chOff x="0" y="0"/>
            <a:chExt cx="1434943" cy="1138923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A9201073-1F44-4575-08A3-800BE717458F}"/>
                </a:ext>
              </a:extLst>
            </p:cNvPr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AED9D9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909846E8-E020-C5B4-E996-320E1E1ABB4A}"/>
                </a:ext>
              </a:extLst>
            </p:cNvPr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07"/>
                </a:lnSpc>
              </a:pPr>
              <a:endParaRPr sz="1200"/>
            </a:p>
          </p:txBody>
        </p:sp>
      </p:grpSp>
      <p:grpSp>
        <p:nvGrpSpPr>
          <p:cNvPr id="17" name="Group 5">
            <a:extLst>
              <a:ext uri="{FF2B5EF4-FFF2-40B4-BE49-F238E27FC236}">
                <a16:creationId xmlns:a16="http://schemas.microsoft.com/office/drawing/2014/main" id="{9FA204F7-A5EE-CD4F-4302-7915789343A0}"/>
              </a:ext>
            </a:extLst>
          </p:cNvPr>
          <p:cNvGrpSpPr/>
          <p:nvPr/>
        </p:nvGrpSpPr>
        <p:grpSpPr>
          <a:xfrm>
            <a:off x="444500" y="3987800"/>
            <a:ext cx="3289300" cy="2425700"/>
            <a:chOff x="0" y="0"/>
            <a:chExt cx="1434943" cy="113892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71D2C146-FE1F-3380-3D69-F4C8FBF53349}"/>
                </a:ext>
              </a:extLst>
            </p:cNvPr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AED9D9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231765E1-1987-AA7F-8100-763090D14202}"/>
                </a:ext>
              </a:extLst>
            </p:cNvPr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07"/>
                </a:lnSpc>
              </a:pPr>
              <a:endParaRPr sz="1200"/>
            </a:p>
          </p:txBody>
        </p:sp>
      </p:grpSp>
      <p:grpSp>
        <p:nvGrpSpPr>
          <p:cNvPr id="20" name="Group 8">
            <a:extLst>
              <a:ext uri="{FF2B5EF4-FFF2-40B4-BE49-F238E27FC236}">
                <a16:creationId xmlns:a16="http://schemas.microsoft.com/office/drawing/2014/main" id="{022DD786-BBE6-E7AF-541F-CF83F5DF2A76}"/>
              </a:ext>
            </a:extLst>
          </p:cNvPr>
          <p:cNvGrpSpPr/>
          <p:nvPr/>
        </p:nvGrpSpPr>
        <p:grpSpPr>
          <a:xfrm>
            <a:off x="4279900" y="901700"/>
            <a:ext cx="3289300" cy="2425700"/>
            <a:chOff x="0" y="0"/>
            <a:chExt cx="1434943" cy="1138923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E3ECF74-A36A-C984-CA3F-A74454643C5D}"/>
                </a:ext>
              </a:extLst>
            </p:cNvPr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AED9D9"/>
            </a:solidFill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B46D6086-95AD-4827-5685-FBDB60A4648C}"/>
                </a:ext>
              </a:extLst>
            </p:cNvPr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07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11">
            <a:extLst>
              <a:ext uri="{FF2B5EF4-FFF2-40B4-BE49-F238E27FC236}">
                <a16:creationId xmlns:a16="http://schemas.microsoft.com/office/drawing/2014/main" id="{A892409A-39F8-5B62-D2B1-9FF344A79E75}"/>
              </a:ext>
            </a:extLst>
          </p:cNvPr>
          <p:cNvGrpSpPr/>
          <p:nvPr/>
        </p:nvGrpSpPr>
        <p:grpSpPr>
          <a:xfrm>
            <a:off x="4313001" y="4004351"/>
            <a:ext cx="3289300" cy="2425700"/>
            <a:chOff x="0" y="0"/>
            <a:chExt cx="1434943" cy="1138923"/>
          </a:xfrm>
        </p:grpSpPr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2A15E5AD-4897-2996-075D-33BC8735E3CB}"/>
                </a:ext>
              </a:extLst>
            </p:cNvPr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AED9D9"/>
            </a:solidFill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13">
              <a:extLst>
                <a:ext uri="{FF2B5EF4-FFF2-40B4-BE49-F238E27FC236}">
                  <a16:creationId xmlns:a16="http://schemas.microsoft.com/office/drawing/2014/main" id="{71B626F5-9F84-3677-B315-25C80A112491}"/>
                </a:ext>
              </a:extLst>
            </p:cNvPr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07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14">
            <a:extLst>
              <a:ext uri="{FF2B5EF4-FFF2-40B4-BE49-F238E27FC236}">
                <a16:creationId xmlns:a16="http://schemas.microsoft.com/office/drawing/2014/main" id="{6910D4B1-B2A0-F6A6-3DAE-E2391FB9A461}"/>
              </a:ext>
            </a:extLst>
          </p:cNvPr>
          <p:cNvGrpSpPr/>
          <p:nvPr/>
        </p:nvGrpSpPr>
        <p:grpSpPr>
          <a:xfrm>
            <a:off x="8115300" y="901700"/>
            <a:ext cx="3289300" cy="2425700"/>
            <a:chOff x="0" y="0"/>
            <a:chExt cx="1434943" cy="1138923"/>
          </a:xfrm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D842339C-A4B7-47C9-FCCF-1A5C95401DD9}"/>
                </a:ext>
              </a:extLst>
            </p:cNvPr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AED9D9"/>
            </a:solidFill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A7C21F11-A349-BD9D-BAA1-2420629A809E}"/>
                </a:ext>
              </a:extLst>
            </p:cNvPr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07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18D495EF-EDAD-0BB5-422E-30C2783FC01C}"/>
              </a:ext>
            </a:extLst>
          </p:cNvPr>
          <p:cNvGrpSpPr/>
          <p:nvPr/>
        </p:nvGrpSpPr>
        <p:grpSpPr>
          <a:xfrm>
            <a:off x="444500" y="3987800"/>
            <a:ext cx="1552642" cy="2425700"/>
            <a:chOff x="0" y="0"/>
            <a:chExt cx="398431" cy="669955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C5591A3A-925F-9561-D603-57B409B0D49C}"/>
                </a:ext>
              </a:extLst>
            </p:cNvPr>
            <p:cNvSpPr/>
            <p:nvPr/>
          </p:nvSpPr>
          <p:spPr>
            <a:xfrm>
              <a:off x="0" y="0"/>
              <a:ext cx="398431" cy="669955"/>
            </a:xfrm>
            <a:custGeom>
              <a:avLst/>
              <a:gdLst/>
              <a:ahLst/>
              <a:cxnLst/>
              <a:rect l="l" t="t" r="r" b="b"/>
              <a:pathLst>
                <a:path w="398431" h="669955">
                  <a:moveTo>
                    <a:pt x="96332" y="0"/>
                  </a:moveTo>
                  <a:lnTo>
                    <a:pt x="302100" y="0"/>
                  </a:lnTo>
                  <a:cubicBezTo>
                    <a:pt x="355302" y="0"/>
                    <a:pt x="398431" y="43129"/>
                    <a:pt x="398431" y="96332"/>
                  </a:cubicBezTo>
                  <a:lnTo>
                    <a:pt x="398431" y="573623"/>
                  </a:lnTo>
                  <a:cubicBezTo>
                    <a:pt x="398431" y="626826"/>
                    <a:pt x="355302" y="669955"/>
                    <a:pt x="302100" y="669955"/>
                  </a:cubicBezTo>
                  <a:lnTo>
                    <a:pt x="96332" y="669955"/>
                  </a:lnTo>
                  <a:cubicBezTo>
                    <a:pt x="43129" y="669955"/>
                    <a:pt x="0" y="626826"/>
                    <a:pt x="0" y="573623"/>
                  </a:cubicBezTo>
                  <a:lnTo>
                    <a:pt x="0" y="96332"/>
                  </a:lnTo>
                  <a:cubicBezTo>
                    <a:pt x="0" y="43129"/>
                    <a:pt x="43129" y="0"/>
                    <a:pt x="96332" y="0"/>
                  </a:cubicBezTo>
                  <a:close/>
                </a:path>
              </a:pathLst>
            </a:custGeom>
            <a:blipFill>
              <a:blip r:embed="rId2"/>
              <a:stretch>
                <a:fillRect t="-81" b="-81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31" name="Group 21">
            <a:extLst>
              <a:ext uri="{FF2B5EF4-FFF2-40B4-BE49-F238E27FC236}">
                <a16:creationId xmlns:a16="http://schemas.microsoft.com/office/drawing/2014/main" id="{71B33B58-A53F-FC05-6D14-12BF9DF6BF90}"/>
              </a:ext>
            </a:extLst>
          </p:cNvPr>
          <p:cNvGrpSpPr/>
          <p:nvPr/>
        </p:nvGrpSpPr>
        <p:grpSpPr>
          <a:xfrm>
            <a:off x="4279900" y="901700"/>
            <a:ext cx="1552642" cy="2425700"/>
            <a:chOff x="0" y="0"/>
            <a:chExt cx="398431" cy="669955"/>
          </a:xfrm>
        </p:grpSpPr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3DCDA9EE-E251-04B0-3752-2536AD17DBE7}"/>
                </a:ext>
              </a:extLst>
            </p:cNvPr>
            <p:cNvSpPr/>
            <p:nvPr/>
          </p:nvSpPr>
          <p:spPr>
            <a:xfrm>
              <a:off x="0" y="0"/>
              <a:ext cx="398431" cy="669955"/>
            </a:xfrm>
            <a:custGeom>
              <a:avLst/>
              <a:gdLst/>
              <a:ahLst/>
              <a:cxnLst/>
              <a:rect l="l" t="t" r="r" b="b"/>
              <a:pathLst>
                <a:path w="398431" h="669955">
                  <a:moveTo>
                    <a:pt x="96332" y="0"/>
                  </a:moveTo>
                  <a:lnTo>
                    <a:pt x="302100" y="0"/>
                  </a:lnTo>
                  <a:cubicBezTo>
                    <a:pt x="355302" y="0"/>
                    <a:pt x="398431" y="43129"/>
                    <a:pt x="398431" y="96332"/>
                  </a:cubicBezTo>
                  <a:lnTo>
                    <a:pt x="398431" y="573623"/>
                  </a:lnTo>
                  <a:cubicBezTo>
                    <a:pt x="398431" y="626826"/>
                    <a:pt x="355302" y="669955"/>
                    <a:pt x="302100" y="669955"/>
                  </a:cubicBezTo>
                  <a:lnTo>
                    <a:pt x="96332" y="669955"/>
                  </a:lnTo>
                  <a:cubicBezTo>
                    <a:pt x="43129" y="669955"/>
                    <a:pt x="0" y="626826"/>
                    <a:pt x="0" y="573623"/>
                  </a:cubicBezTo>
                  <a:lnTo>
                    <a:pt x="0" y="96332"/>
                  </a:lnTo>
                  <a:cubicBezTo>
                    <a:pt x="0" y="43129"/>
                    <a:pt x="43129" y="0"/>
                    <a:pt x="96332" y="0"/>
                  </a:cubicBezTo>
                  <a:close/>
                </a:path>
              </a:pathLst>
            </a:custGeom>
            <a:blipFill>
              <a:blip r:embed="rId3"/>
              <a:stretch>
                <a:fillRect t="-81" b="-81"/>
              </a:stretch>
            </a:blipFill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23">
            <a:extLst>
              <a:ext uri="{FF2B5EF4-FFF2-40B4-BE49-F238E27FC236}">
                <a16:creationId xmlns:a16="http://schemas.microsoft.com/office/drawing/2014/main" id="{7D042D6D-9426-DAF2-E9C1-E62808313F46}"/>
              </a:ext>
            </a:extLst>
          </p:cNvPr>
          <p:cNvGrpSpPr/>
          <p:nvPr/>
        </p:nvGrpSpPr>
        <p:grpSpPr>
          <a:xfrm>
            <a:off x="4313001" y="4004351"/>
            <a:ext cx="1552642" cy="2425700"/>
            <a:chOff x="0" y="0"/>
            <a:chExt cx="398431" cy="669955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18FB930C-94DD-A3C8-E050-B5BDDEBA7DAE}"/>
                </a:ext>
              </a:extLst>
            </p:cNvPr>
            <p:cNvSpPr/>
            <p:nvPr/>
          </p:nvSpPr>
          <p:spPr>
            <a:xfrm>
              <a:off x="0" y="0"/>
              <a:ext cx="398431" cy="669955"/>
            </a:xfrm>
            <a:custGeom>
              <a:avLst/>
              <a:gdLst/>
              <a:ahLst/>
              <a:cxnLst/>
              <a:rect l="l" t="t" r="r" b="b"/>
              <a:pathLst>
                <a:path w="398431" h="669955">
                  <a:moveTo>
                    <a:pt x="96332" y="0"/>
                  </a:moveTo>
                  <a:lnTo>
                    <a:pt x="302100" y="0"/>
                  </a:lnTo>
                  <a:cubicBezTo>
                    <a:pt x="355302" y="0"/>
                    <a:pt x="398431" y="43129"/>
                    <a:pt x="398431" y="96332"/>
                  </a:cubicBezTo>
                  <a:lnTo>
                    <a:pt x="398431" y="573623"/>
                  </a:lnTo>
                  <a:cubicBezTo>
                    <a:pt x="398431" y="626826"/>
                    <a:pt x="355302" y="669955"/>
                    <a:pt x="302100" y="669955"/>
                  </a:cubicBezTo>
                  <a:lnTo>
                    <a:pt x="96332" y="669955"/>
                  </a:lnTo>
                  <a:cubicBezTo>
                    <a:pt x="43129" y="669955"/>
                    <a:pt x="0" y="626826"/>
                    <a:pt x="0" y="573623"/>
                  </a:cubicBezTo>
                  <a:lnTo>
                    <a:pt x="0" y="96332"/>
                  </a:lnTo>
                  <a:cubicBezTo>
                    <a:pt x="0" y="43129"/>
                    <a:pt x="43129" y="0"/>
                    <a:pt x="96332" y="0"/>
                  </a:cubicBezTo>
                  <a:close/>
                </a:path>
              </a:pathLst>
            </a:custGeom>
            <a:blipFill>
              <a:blip r:embed="rId4"/>
              <a:stretch>
                <a:fillRect t="-81" b="-81"/>
              </a:stretch>
            </a:blipFill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27">
            <a:extLst>
              <a:ext uri="{FF2B5EF4-FFF2-40B4-BE49-F238E27FC236}">
                <a16:creationId xmlns:a16="http://schemas.microsoft.com/office/drawing/2014/main" id="{21AF8C46-73DA-0017-8E67-70C679AA803A}"/>
              </a:ext>
            </a:extLst>
          </p:cNvPr>
          <p:cNvGrpSpPr/>
          <p:nvPr/>
        </p:nvGrpSpPr>
        <p:grpSpPr>
          <a:xfrm>
            <a:off x="2124066" y="4266784"/>
            <a:ext cx="1609734" cy="1507637"/>
            <a:chOff x="0" y="9525"/>
            <a:chExt cx="3009829" cy="3583602"/>
          </a:xfrm>
        </p:grpSpPr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83D33120-AD38-90FF-1AE1-AB2FF026ACFB}"/>
                </a:ext>
              </a:extLst>
            </p:cNvPr>
            <p:cNvSpPr txBox="1"/>
            <p:nvPr/>
          </p:nvSpPr>
          <p:spPr>
            <a:xfrm>
              <a:off x="0" y="9525"/>
              <a:ext cx="3009829" cy="10973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760"/>
                </a:lnSpc>
                <a:spcBef>
                  <a:spcPct val="0"/>
                </a:spcBef>
              </a:pP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Đảm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bảo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chất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lượng</a:t>
              </a:r>
              <a:endParaRPr lang="en-US" sz="1600" b="1">
                <a:solidFill>
                  <a:srgbClr val="497A78"/>
                </a:solidFill>
                <a:latin typeface="Times New Roman" panose="02020603050405020304" pitchFamily="18" charset="0"/>
                <a:ea typeface="TT Interphases Bold"/>
                <a:cs typeface="Times New Roman" panose="02020603050405020304" pitchFamily="18" charset="0"/>
                <a:sym typeface="TT Interphases Bold"/>
              </a:endParaRPr>
            </a:p>
          </p:txBody>
        </p:sp>
        <p:sp>
          <p:nvSpPr>
            <p:cNvPr id="37" name="TextBox 29">
              <a:extLst>
                <a:ext uri="{FF2B5EF4-FFF2-40B4-BE49-F238E27FC236}">
                  <a16:creationId xmlns:a16="http://schemas.microsoft.com/office/drawing/2014/main" id="{BCDE7AB8-CF32-C777-208C-DCA200FED9C9}"/>
                </a:ext>
              </a:extLst>
            </p:cNvPr>
            <p:cNvSpPr txBox="1"/>
            <p:nvPr/>
          </p:nvSpPr>
          <p:spPr>
            <a:xfrm>
              <a:off x="0" y="1206822"/>
              <a:ext cx="2903080" cy="2386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Nguyễn Thị Thu Thủy</a:t>
              </a:r>
            </a:p>
            <a:p>
              <a:pPr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Nguyễn Thị Mai Anh</a:t>
              </a:r>
            </a:p>
          </p:txBody>
        </p:sp>
      </p:grpSp>
      <p:grpSp>
        <p:nvGrpSpPr>
          <p:cNvPr id="38" name="Group 30">
            <a:extLst>
              <a:ext uri="{FF2B5EF4-FFF2-40B4-BE49-F238E27FC236}">
                <a16:creationId xmlns:a16="http://schemas.microsoft.com/office/drawing/2014/main" id="{717148AD-A5E3-4E99-FA49-87CFBE9CCB92}"/>
              </a:ext>
            </a:extLst>
          </p:cNvPr>
          <p:cNvGrpSpPr/>
          <p:nvPr/>
        </p:nvGrpSpPr>
        <p:grpSpPr>
          <a:xfrm>
            <a:off x="5992567" y="4242672"/>
            <a:ext cx="1552641" cy="1280032"/>
            <a:chOff x="0" y="9525"/>
            <a:chExt cx="2903080" cy="3042591"/>
          </a:xfrm>
        </p:grpSpPr>
        <p:sp>
          <p:nvSpPr>
            <p:cNvPr id="39" name="TextBox 31">
              <a:extLst>
                <a:ext uri="{FF2B5EF4-FFF2-40B4-BE49-F238E27FC236}">
                  <a16:creationId xmlns:a16="http://schemas.microsoft.com/office/drawing/2014/main" id="{D42B2706-5BF4-E173-6824-E0758491DF93}"/>
                </a:ext>
              </a:extLst>
            </p:cNvPr>
            <p:cNvSpPr txBox="1"/>
            <p:nvPr/>
          </p:nvSpPr>
          <p:spPr>
            <a:xfrm>
              <a:off x="0" y="9525"/>
              <a:ext cx="2903080" cy="1097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6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Kỹ thuật linh kiện</a:t>
              </a:r>
            </a:p>
          </p:txBody>
        </p:sp>
        <p:sp>
          <p:nvSpPr>
            <p:cNvPr id="40" name="TextBox 32">
              <a:extLst>
                <a:ext uri="{FF2B5EF4-FFF2-40B4-BE49-F238E27FC236}">
                  <a16:creationId xmlns:a16="http://schemas.microsoft.com/office/drawing/2014/main" id="{E1FA7760-F300-7078-49D0-29B2E926B7C4}"/>
                </a:ext>
              </a:extLst>
            </p:cNvPr>
            <p:cNvSpPr txBox="1"/>
            <p:nvPr/>
          </p:nvSpPr>
          <p:spPr>
            <a:xfrm>
              <a:off x="0" y="1275456"/>
              <a:ext cx="2903080" cy="177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Trần Thị Phượng</a:t>
              </a:r>
            </a:p>
            <a:p>
              <a:pPr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Vũ Thị Hoài Thương</a:t>
              </a:r>
            </a:p>
          </p:txBody>
        </p:sp>
      </p:grpSp>
      <p:grpSp>
        <p:nvGrpSpPr>
          <p:cNvPr id="41" name="Group 33">
            <a:extLst>
              <a:ext uri="{FF2B5EF4-FFF2-40B4-BE49-F238E27FC236}">
                <a16:creationId xmlns:a16="http://schemas.microsoft.com/office/drawing/2014/main" id="{23549D16-52FA-7DFA-FEA2-E2E8E4329141}"/>
              </a:ext>
            </a:extLst>
          </p:cNvPr>
          <p:cNvGrpSpPr/>
          <p:nvPr/>
        </p:nvGrpSpPr>
        <p:grpSpPr>
          <a:xfrm>
            <a:off x="2089149" y="1147564"/>
            <a:ext cx="1587557" cy="1677492"/>
            <a:chOff x="-2" y="9525"/>
            <a:chExt cx="2968363" cy="3987338"/>
          </a:xfrm>
        </p:grpSpPr>
        <p:sp>
          <p:nvSpPr>
            <p:cNvPr id="42" name="TextBox 34">
              <a:extLst>
                <a:ext uri="{FF2B5EF4-FFF2-40B4-BE49-F238E27FC236}">
                  <a16:creationId xmlns:a16="http://schemas.microsoft.com/office/drawing/2014/main" id="{C4EED4FA-E1A7-363A-3D51-5FB7BD656D50}"/>
                </a:ext>
              </a:extLst>
            </p:cNvPr>
            <p:cNvSpPr txBox="1"/>
            <p:nvPr/>
          </p:nvSpPr>
          <p:spPr>
            <a:xfrm>
              <a:off x="0" y="9525"/>
              <a:ext cx="2903080" cy="1097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60"/>
                </a:lnSpc>
                <a:spcBef>
                  <a:spcPct val="0"/>
                </a:spcBef>
              </a:pP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Kỹ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thuật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chế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tạo</a:t>
              </a:r>
              <a:endParaRPr lang="en-US" sz="1600" b="1">
                <a:solidFill>
                  <a:srgbClr val="497A78"/>
                </a:solidFill>
                <a:latin typeface="Times New Roman" panose="02020603050405020304" pitchFamily="18" charset="0"/>
                <a:ea typeface="TT Interphases Bold"/>
                <a:cs typeface="Times New Roman" panose="02020603050405020304" pitchFamily="18" charset="0"/>
                <a:sym typeface="TT Interphases Bold"/>
              </a:endParaRPr>
            </a:p>
          </p:txBody>
        </p:sp>
        <p:sp>
          <p:nvSpPr>
            <p:cNvPr id="43" name="TextBox 35">
              <a:extLst>
                <a:ext uri="{FF2B5EF4-FFF2-40B4-BE49-F238E27FC236}">
                  <a16:creationId xmlns:a16="http://schemas.microsoft.com/office/drawing/2014/main" id="{7856B3AE-C2B7-7764-A466-53F84EEF06D5}"/>
                </a:ext>
              </a:extLst>
            </p:cNvPr>
            <p:cNvSpPr txBox="1"/>
            <p:nvPr/>
          </p:nvSpPr>
          <p:spPr>
            <a:xfrm>
              <a:off x="-2" y="1000914"/>
              <a:ext cx="2968363" cy="29959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 b="1" u="sng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Nguyễn Thị Phương Anh</a:t>
              </a:r>
            </a:p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Lê Thị Mai Hương</a:t>
              </a:r>
            </a:p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Phạm Thị Loan</a:t>
              </a:r>
            </a:p>
            <a:p>
              <a:pPr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Ngô Hải Yến</a:t>
              </a:r>
            </a:p>
          </p:txBody>
        </p:sp>
      </p:grpSp>
      <p:grpSp>
        <p:nvGrpSpPr>
          <p:cNvPr id="44" name="Group 36">
            <a:extLst>
              <a:ext uri="{FF2B5EF4-FFF2-40B4-BE49-F238E27FC236}">
                <a16:creationId xmlns:a16="http://schemas.microsoft.com/office/drawing/2014/main" id="{D612963B-0AA8-8B81-49C6-538AD39124B0}"/>
              </a:ext>
            </a:extLst>
          </p:cNvPr>
          <p:cNvGrpSpPr/>
          <p:nvPr/>
        </p:nvGrpSpPr>
        <p:grpSpPr>
          <a:xfrm>
            <a:off x="6043617" y="1155915"/>
            <a:ext cx="1314507" cy="846172"/>
            <a:chOff x="0" y="9525"/>
            <a:chExt cx="2903080" cy="2011320"/>
          </a:xfrm>
        </p:grpSpPr>
        <p:sp>
          <p:nvSpPr>
            <p:cNvPr id="45" name="TextBox 37">
              <a:extLst>
                <a:ext uri="{FF2B5EF4-FFF2-40B4-BE49-F238E27FC236}">
                  <a16:creationId xmlns:a16="http://schemas.microsoft.com/office/drawing/2014/main" id="{C1BF8805-C05B-0503-FA43-EF2E1E2A67A0}"/>
                </a:ext>
              </a:extLst>
            </p:cNvPr>
            <p:cNvSpPr txBox="1"/>
            <p:nvPr/>
          </p:nvSpPr>
          <p:spPr>
            <a:xfrm>
              <a:off x="0" y="9525"/>
              <a:ext cx="2903080" cy="548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6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QCCLCĐM</a:t>
              </a:r>
            </a:p>
          </p:txBody>
        </p:sp>
        <p:sp>
          <p:nvSpPr>
            <p:cNvPr id="46" name="TextBox 38">
              <a:extLst>
                <a:ext uri="{FF2B5EF4-FFF2-40B4-BE49-F238E27FC236}">
                  <a16:creationId xmlns:a16="http://schemas.microsoft.com/office/drawing/2014/main" id="{F54A068B-FA38-73CD-36CB-9E66105C4EF3}"/>
                </a:ext>
              </a:extLst>
            </p:cNvPr>
            <p:cNvSpPr txBox="1"/>
            <p:nvPr/>
          </p:nvSpPr>
          <p:spPr>
            <a:xfrm>
              <a:off x="0" y="853832"/>
              <a:ext cx="2903080" cy="11670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Bùi Thị Nga</a:t>
              </a:r>
            </a:p>
            <a:p>
              <a:pPr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Lê Thị Thu Thủy</a:t>
              </a:r>
            </a:p>
          </p:txBody>
        </p:sp>
      </p:grpSp>
      <p:grpSp>
        <p:nvGrpSpPr>
          <p:cNvPr id="47" name="Group 39">
            <a:extLst>
              <a:ext uri="{FF2B5EF4-FFF2-40B4-BE49-F238E27FC236}">
                <a16:creationId xmlns:a16="http://schemas.microsoft.com/office/drawing/2014/main" id="{81D89DF6-0942-BA68-9A79-4937ADD0A535}"/>
              </a:ext>
            </a:extLst>
          </p:cNvPr>
          <p:cNvGrpSpPr/>
          <p:nvPr/>
        </p:nvGrpSpPr>
        <p:grpSpPr>
          <a:xfrm>
            <a:off x="9965623" y="1120465"/>
            <a:ext cx="1314507" cy="1121909"/>
            <a:chOff x="0" y="9525"/>
            <a:chExt cx="2903080" cy="2666738"/>
          </a:xfrm>
        </p:grpSpPr>
        <p:sp>
          <p:nvSpPr>
            <p:cNvPr id="48" name="TextBox 40">
              <a:extLst>
                <a:ext uri="{FF2B5EF4-FFF2-40B4-BE49-F238E27FC236}">
                  <a16:creationId xmlns:a16="http://schemas.microsoft.com/office/drawing/2014/main" id="{0046A3CE-6AAE-5DE6-60FD-4FE1A5E13046}"/>
                </a:ext>
              </a:extLst>
            </p:cNvPr>
            <p:cNvSpPr txBox="1"/>
            <p:nvPr/>
          </p:nvSpPr>
          <p:spPr>
            <a:xfrm>
              <a:off x="0" y="9525"/>
              <a:ext cx="2903080" cy="548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6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QLCLLK</a:t>
              </a:r>
            </a:p>
          </p:txBody>
        </p:sp>
        <p:sp>
          <p:nvSpPr>
            <p:cNvPr id="49" name="TextBox 41">
              <a:extLst>
                <a:ext uri="{FF2B5EF4-FFF2-40B4-BE49-F238E27FC236}">
                  <a16:creationId xmlns:a16="http://schemas.microsoft.com/office/drawing/2014/main" id="{EC901E1B-0808-A57E-AE08-71535F35E259}"/>
                </a:ext>
              </a:extLst>
            </p:cNvPr>
            <p:cNvSpPr txBox="1"/>
            <p:nvPr/>
          </p:nvSpPr>
          <p:spPr>
            <a:xfrm>
              <a:off x="0" y="899603"/>
              <a:ext cx="2903080" cy="177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Lê Thị Giang</a:t>
              </a:r>
            </a:p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Lương Thị Nga</a:t>
              </a:r>
            </a:p>
            <a:p>
              <a:pPr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Vũ Thị Thủy</a:t>
              </a:r>
            </a:p>
          </p:txBody>
        </p:sp>
      </p:grpSp>
      <p:grpSp>
        <p:nvGrpSpPr>
          <p:cNvPr id="50" name="Group 42">
            <a:extLst>
              <a:ext uri="{FF2B5EF4-FFF2-40B4-BE49-F238E27FC236}">
                <a16:creationId xmlns:a16="http://schemas.microsoft.com/office/drawing/2014/main" id="{4FD7B46F-C854-AEA1-455A-E0F06B5E8E0F}"/>
              </a:ext>
            </a:extLst>
          </p:cNvPr>
          <p:cNvGrpSpPr/>
          <p:nvPr/>
        </p:nvGrpSpPr>
        <p:grpSpPr>
          <a:xfrm>
            <a:off x="8115300" y="4004351"/>
            <a:ext cx="3289300" cy="2425700"/>
            <a:chOff x="0" y="0"/>
            <a:chExt cx="1434943" cy="1138923"/>
          </a:xfrm>
        </p:grpSpPr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9DDA4570-258A-4A76-0C78-E00E3331E5E6}"/>
                </a:ext>
              </a:extLst>
            </p:cNvPr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AED9D9"/>
            </a:solidFill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44">
              <a:extLst>
                <a:ext uri="{FF2B5EF4-FFF2-40B4-BE49-F238E27FC236}">
                  <a16:creationId xmlns:a16="http://schemas.microsoft.com/office/drawing/2014/main" id="{A76B2DD5-0DA2-2E29-FC10-1B1CC0F6A7CD}"/>
                </a:ext>
              </a:extLst>
            </p:cNvPr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07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47">
            <a:extLst>
              <a:ext uri="{FF2B5EF4-FFF2-40B4-BE49-F238E27FC236}">
                <a16:creationId xmlns:a16="http://schemas.microsoft.com/office/drawing/2014/main" id="{F68A5972-2C09-798D-1F18-B3103B2F644C}"/>
              </a:ext>
            </a:extLst>
          </p:cNvPr>
          <p:cNvGrpSpPr/>
          <p:nvPr/>
        </p:nvGrpSpPr>
        <p:grpSpPr>
          <a:xfrm>
            <a:off x="9896466" y="4242672"/>
            <a:ext cx="1552642" cy="1536512"/>
            <a:chOff x="0" y="9525"/>
            <a:chExt cx="2903080" cy="3652232"/>
          </a:xfrm>
        </p:grpSpPr>
        <p:sp>
          <p:nvSpPr>
            <p:cNvPr id="54" name="TextBox 48">
              <a:extLst>
                <a:ext uri="{FF2B5EF4-FFF2-40B4-BE49-F238E27FC236}">
                  <a16:creationId xmlns:a16="http://schemas.microsoft.com/office/drawing/2014/main" id="{64B83C89-FBFB-1D65-C42F-FA56E644240C}"/>
                </a:ext>
              </a:extLst>
            </p:cNvPr>
            <p:cNvSpPr txBox="1"/>
            <p:nvPr/>
          </p:nvSpPr>
          <p:spPr>
            <a:xfrm>
              <a:off x="0" y="9525"/>
              <a:ext cx="2903080" cy="1097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60"/>
                </a:lnSpc>
                <a:spcBef>
                  <a:spcPct val="0"/>
                </a:spcBef>
              </a:pP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Kỹ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thuật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sản</a:t>
              </a:r>
              <a:r>
                <a:rPr lang="en-US" sz="1600" b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1600" b="1" err="1">
                  <a:solidFill>
                    <a:srgbClr val="497A78"/>
                  </a:solidFill>
                  <a:latin typeface="Times New Roman" panose="02020603050405020304" pitchFamily="18" charset="0"/>
                  <a:ea typeface="TT Interphases Bold"/>
                  <a:cs typeface="Times New Roman" panose="02020603050405020304" pitchFamily="18" charset="0"/>
                  <a:sym typeface="TT Interphases Bold"/>
                </a:rPr>
                <a:t>xuất</a:t>
              </a:r>
              <a:endParaRPr lang="en-US" sz="1600" b="1">
                <a:solidFill>
                  <a:srgbClr val="497A78"/>
                </a:solidFill>
                <a:latin typeface="Times New Roman" panose="02020603050405020304" pitchFamily="18" charset="0"/>
                <a:ea typeface="TT Interphases Bold"/>
                <a:cs typeface="Times New Roman" panose="02020603050405020304" pitchFamily="18" charset="0"/>
                <a:sym typeface="TT Interphases Bold"/>
              </a:endParaRPr>
            </a:p>
          </p:txBody>
        </p:sp>
        <p:sp>
          <p:nvSpPr>
            <p:cNvPr id="55" name="TextBox 49">
              <a:extLst>
                <a:ext uri="{FF2B5EF4-FFF2-40B4-BE49-F238E27FC236}">
                  <a16:creationId xmlns:a16="http://schemas.microsoft.com/office/drawing/2014/main" id="{E7507729-F6C9-F6F2-B80F-3705A8EB08DC}"/>
                </a:ext>
              </a:extLst>
            </p:cNvPr>
            <p:cNvSpPr txBox="1"/>
            <p:nvPr/>
          </p:nvSpPr>
          <p:spPr>
            <a:xfrm>
              <a:off x="0" y="1275455"/>
              <a:ext cx="2903080" cy="2386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Đỗ Văn Thắng</a:t>
              </a:r>
            </a:p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Lại Thị Phúc</a:t>
              </a:r>
            </a:p>
            <a:p>
              <a:pPr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315C58"/>
                  </a:solidFill>
                  <a:latin typeface="Times New Roman" panose="02020603050405020304" pitchFamily="18" charset="0"/>
                  <a:ea typeface="TT Interphases"/>
                  <a:cs typeface="Times New Roman" panose="02020603050405020304" pitchFamily="18" charset="0"/>
                  <a:sym typeface="TT Interphases"/>
                </a:rPr>
                <a:t>Trịnh Minh Hoàng</a:t>
              </a:r>
            </a:p>
          </p:txBody>
        </p:sp>
      </p:grpSp>
      <p:pic>
        <p:nvPicPr>
          <p:cNvPr id="56" name="Picture 4" descr="A generated image">
            <a:extLst>
              <a:ext uri="{FF2B5EF4-FFF2-40B4-BE49-F238E27FC236}">
                <a16:creationId xmlns:a16="http://schemas.microsoft.com/office/drawing/2014/main" id="{170D6F45-BE59-B8E0-F2E8-4C77E0FB3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07" y="4035976"/>
            <a:ext cx="1432028" cy="23624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6" descr="A generated image">
            <a:extLst>
              <a:ext uri="{FF2B5EF4-FFF2-40B4-BE49-F238E27FC236}">
                <a16:creationId xmlns:a16="http://schemas.microsoft.com/office/drawing/2014/main" id="{4D394F39-AFAE-7628-F316-E85F5BD22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6" t="17063" r="17205" b="16733"/>
          <a:stretch>
            <a:fillRect/>
          </a:stretch>
        </p:blipFill>
        <p:spPr bwMode="auto">
          <a:xfrm>
            <a:off x="8115300" y="949218"/>
            <a:ext cx="1492335" cy="23781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8" descr="A generated image">
            <a:extLst>
              <a:ext uri="{FF2B5EF4-FFF2-40B4-BE49-F238E27FC236}">
                <a16:creationId xmlns:a16="http://schemas.microsoft.com/office/drawing/2014/main" id="{A20B8E71-A2F4-425B-BEAC-6EA5B98EF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28" y="901698"/>
            <a:ext cx="1494551" cy="24257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D5EE5F25-1AE9-2A88-9A9A-BAB864A71275}"/>
              </a:ext>
            </a:extLst>
          </p:cNvPr>
          <p:cNvSpPr/>
          <p:nvPr/>
        </p:nvSpPr>
        <p:spPr>
          <a:xfrm>
            <a:off x="2444196" y="1756603"/>
            <a:ext cx="289043" cy="266337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3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9AB8F-B64F-3FDA-F795-26544FE2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3</a:t>
            </a:fld>
            <a:endParaRPr kumimoji="1" lang="ja-VN" altLang="en-US"/>
          </a:p>
        </p:txBody>
      </p:sp>
      <p:sp>
        <p:nvSpPr>
          <p:cNvPr id="5" name="テキスト ボックス 1">
            <a:extLst>
              <a:ext uri="{FF2B5EF4-FFF2-40B4-BE49-F238E27FC236}">
                <a16:creationId xmlns:a16="http://schemas.microsoft.com/office/drawing/2014/main" id="{EE90F71D-3EB4-711C-EB6B-B5D01DA6E016}"/>
              </a:ext>
            </a:extLst>
          </p:cNvPr>
          <p:cNvSpPr txBox="1"/>
          <p:nvPr/>
        </p:nvSpPr>
        <p:spPr>
          <a:xfrm>
            <a:off x="4574059" y="99069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3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 dirty="0" err="1"/>
              <a:t>Lựa</a:t>
            </a:r>
            <a:r>
              <a:rPr lang="en-US" altLang="ja-JP" dirty="0"/>
              <a:t> </a:t>
            </a:r>
            <a:r>
              <a:rPr lang="en-US" altLang="ja-JP" dirty="0" err="1"/>
              <a:t>chọn</a:t>
            </a:r>
            <a:r>
              <a:rPr lang="en-US" altLang="ja-JP" dirty="0"/>
              <a:t> </a:t>
            </a:r>
            <a:r>
              <a:rPr lang="en-US" altLang="ja-JP" dirty="0" err="1"/>
              <a:t>chủ</a:t>
            </a:r>
            <a:r>
              <a:rPr lang="en-US" altLang="ja-JP" dirty="0"/>
              <a:t> </a:t>
            </a:r>
            <a:r>
              <a:rPr lang="en-US" altLang="ja-JP" dirty="0" err="1"/>
              <a:t>đề</a:t>
            </a:r>
            <a:endParaRPr lang="ja-JP" altLang="en-US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FDE5DBC-BF0F-6202-8154-B2FD14576D56}"/>
              </a:ext>
            </a:extLst>
          </p:cNvPr>
          <p:cNvGrpSpPr/>
          <p:nvPr/>
        </p:nvGrpSpPr>
        <p:grpSpPr>
          <a:xfrm>
            <a:off x="8559639" y="3201155"/>
            <a:ext cx="3045073" cy="914472"/>
            <a:chOff x="0" y="-9525"/>
            <a:chExt cx="5346700" cy="1325130"/>
          </a:xfrm>
        </p:grpSpPr>
        <p:sp>
          <p:nvSpPr>
            <p:cNvPr id="7" name="TextBox 3">
              <a:extLst>
                <a:ext uri="{FF2B5EF4-FFF2-40B4-BE49-F238E27FC236}">
                  <a16:creationId xmlns:a16="http://schemas.microsoft.com/office/drawing/2014/main" id="{62D1CC12-4016-7DFF-ED49-512C2A9961BA}"/>
                </a:ext>
              </a:extLst>
            </p:cNvPr>
            <p:cNvSpPr txBox="1"/>
            <p:nvPr/>
          </p:nvSpPr>
          <p:spPr>
            <a:xfrm>
              <a:off x="0" y="-9525"/>
              <a:ext cx="5346700" cy="53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000" b="1" err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Cập</a:t>
              </a:r>
              <a:r>
                <a:rPr lang="en-US" sz="2000" b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 </a:t>
              </a:r>
              <a:r>
                <a:rPr lang="en-US" sz="2000" b="1" err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nhật</a:t>
              </a:r>
              <a:endParaRPr lang="en-US" sz="2000" b="1">
                <a:solidFill>
                  <a:srgbClr val="8338EC"/>
                </a:solidFill>
                <a:latin typeface="Times New Roman" panose="02020603050405020304" pitchFamily="18" charset="0"/>
                <a:ea typeface="Bricolage Grotesque Bold"/>
                <a:cs typeface="Times New Roman" panose="02020603050405020304" pitchFamily="18" charset="0"/>
                <a:sym typeface="Bricolage Grotesque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C734270B-6C51-1B96-B6CE-F5DDEE349D69}"/>
                </a:ext>
              </a:extLst>
            </p:cNvPr>
            <p:cNvSpPr txBox="1"/>
            <p:nvPr/>
          </p:nvSpPr>
          <p:spPr>
            <a:xfrm>
              <a:off x="0" y="863600"/>
              <a:ext cx="5346700" cy="45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Dễ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dàng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thay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đổi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thông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tin</a:t>
              </a:r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D9583021-F271-EFD6-3872-BC503D481BEB}"/>
              </a:ext>
            </a:extLst>
          </p:cNvPr>
          <p:cNvGrpSpPr/>
          <p:nvPr/>
        </p:nvGrpSpPr>
        <p:grpSpPr>
          <a:xfrm>
            <a:off x="4748662" y="3268609"/>
            <a:ext cx="2599401" cy="1365744"/>
            <a:chOff x="0" y="-9525"/>
            <a:chExt cx="5346700" cy="1820991"/>
          </a:xfrm>
        </p:grpSpPr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9EA47D0A-07F1-A6DD-31E0-9E799952BAD6}"/>
                </a:ext>
              </a:extLst>
            </p:cNvPr>
            <p:cNvSpPr txBox="1"/>
            <p:nvPr/>
          </p:nvSpPr>
          <p:spPr>
            <a:xfrm>
              <a:off x="0" y="-9525"/>
              <a:ext cx="5346700" cy="53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000" b="1" err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Nâng</a:t>
              </a:r>
              <a:r>
                <a:rPr lang="en-US" sz="2000" b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 </a:t>
              </a:r>
              <a:r>
                <a:rPr lang="en-US" sz="2000" b="1" err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cao</a:t>
              </a:r>
              <a:endParaRPr lang="en-US" sz="2000" b="1">
                <a:solidFill>
                  <a:srgbClr val="8338EC"/>
                </a:solidFill>
                <a:latin typeface="Times New Roman" panose="02020603050405020304" pitchFamily="18" charset="0"/>
                <a:ea typeface="Bricolage Grotesque Bold"/>
                <a:cs typeface="Times New Roman" panose="02020603050405020304" pitchFamily="18" charset="0"/>
                <a:sym typeface="Bricolage Grotesque Bold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C81DADDB-0DD6-DAA6-7311-2A8FB4642EE4}"/>
                </a:ext>
              </a:extLst>
            </p:cNvPr>
            <p:cNvSpPr txBox="1"/>
            <p:nvPr/>
          </p:nvSpPr>
          <p:spPr>
            <a:xfrm>
              <a:off x="0" y="863600"/>
              <a:ext cx="5346700" cy="947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Đảm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bảo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độ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chính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xác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việc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nhập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dữ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liệu</a:t>
              </a:r>
              <a:endParaRPr lang="en-US" sz="2000">
                <a:solidFill>
                  <a:srgbClr val="FB5607"/>
                </a:solidFill>
                <a:latin typeface="Times New Roman" panose="02020603050405020304" pitchFamily="18" charset="0"/>
                <a:ea typeface="HK Grotesk"/>
                <a:cs typeface="Times New Roman" panose="02020603050405020304" pitchFamily="18" charset="0"/>
                <a:sym typeface="HK Grotesk"/>
              </a:endParaRPr>
            </a:p>
          </p:txBody>
        </p:sp>
      </p:grpSp>
      <p:grpSp>
        <p:nvGrpSpPr>
          <p:cNvPr id="12" name="Group 8">
            <a:extLst>
              <a:ext uri="{FF2B5EF4-FFF2-40B4-BE49-F238E27FC236}">
                <a16:creationId xmlns:a16="http://schemas.microsoft.com/office/drawing/2014/main" id="{EF2F88DE-6022-8489-FEA2-A2F3C2621E0B}"/>
              </a:ext>
            </a:extLst>
          </p:cNvPr>
          <p:cNvGrpSpPr/>
          <p:nvPr/>
        </p:nvGrpSpPr>
        <p:grpSpPr>
          <a:xfrm>
            <a:off x="701300" y="3231895"/>
            <a:ext cx="2541959" cy="1268628"/>
            <a:chOff x="-268555" y="-9525"/>
            <a:chExt cx="5883809" cy="1838324"/>
          </a:xfrm>
        </p:grpSpPr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33CBEC-0D81-CAB3-426D-5C213FB8985A}"/>
                </a:ext>
              </a:extLst>
            </p:cNvPr>
            <p:cNvSpPr txBox="1"/>
            <p:nvPr/>
          </p:nvSpPr>
          <p:spPr>
            <a:xfrm>
              <a:off x="0" y="-9525"/>
              <a:ext cx="5346700" cy="53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338EC"/>
                  </a:solidFill>
                  <a:latin typeface="Times New Roman" panose="02020603050405020304" pitchFamily="18" charset="0"/>
                  <a:ea typeface="Bricolage Grotesque Bold"/>
                  <a:cs typeface="Times New Roman" panose="02020603050405020304" pitchFamily="18" charset="0"/>
                  <a:sym typeface="Bricolage Grotesque Bold"/>
                </a:rPr>
                <a:t>Giảm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8DC70F87-D2C9-8401-CE34-D4028E4A072B}"/>
                </a:ext>
              </a:extLst>
            </p:cNvPr>
            <p:cNvSpPr txBox="1"/>
            <p:nvPr/>
          </p:nvSpPr>
          <p:spPr>
            <a:xfrm>
              <a:off x="-268555" y="880933"/>
              <a:ext cx="5883809" cy="947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Tiết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kiệm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thời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gian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nhập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thủ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công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hiệu</a:t>
              </a:r>
              <a:r>
                <a:rPr lang="en-US" sz="2000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 </a:t>
              </a:r>
              <a:r>
                <a:rPr lang="en-US" sz="2000" err="1">
                  <a:solidFill>
                    <a:srgbClr val="FB5607"/>
                  </a:solidFill>
                  <a:latin typeface="Times New Roman" panose="02020603050405020304" pitchFamily="18" charset="0"/>
                  <a:ea typeface="HK Grotesk"/>
                  <a:cs typeface="Times New Roman" panose="02020603050405020304" pitchFamily="18" charset="0"/>
                  <a:sym typeface="HK Grotesk"/>
                </a:rPr>
                <a:t>quả</a:t>
              </a:r>
              <a:endParaRPr lang="en-US" sz="2000">
                <a:solidFill>
                  <a:srgbClr val="FB5607"/>
                </a:solidFill>
                <a:latin typeface="Times New Roman" panose="02020603050405020304" pitchFamily="18" charset="0"/>
                <a:ea typeface="HK Grotesk"/>
                <a:cs typeface="Times New Roman" panose="02020603050405020304" pitchFamily="18" charset="0"/>
                <a:sym typeface="HK Grotesk"/>
              </a:endParaRP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0DCB254F-7C4C-C321-5B4A-699F0E628D5A}"/>
              </a:ext>
            </a:extLst>
          </p:cNvPr>
          <p:cNvGrpSpPr/>
          <p:nvPr/>
        </p:nvGrpSpPr>
        <p:grpSpPr>
          <a:xfrm>
            <a:off x="531812" y="1287920"/>
            <a:ext cx="2774004" cy="2031459"/>
            <a:chOff x="0" y="0"/>
            <a:chExt cx="1631088" cy="1072184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04025C3-0776-28FE-8EB8-50E5912A2924}"/>
                </a:ext>
              </a:extLst>
            </p:cNvPr>
            <p:cNvSpPr/>
            <p:nvPr/>
          </p:nvSpPr>
          <p:spPr>
            <a:xfrm>
              <a:off x="0" y="0"/>
              <a:ext cx="1631088" cy="1072184"/>
            </a:xfrm>
            <a:custGeom>
              <a:avLst/>
              <a:gdLst/>
              <a:ahLst/>
              <a:cxnLst/>
              <a:rect l="l" t="t" r="r" b="b"/>
              <a:pathLst>
                <a:path w="1631088" h="1072184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043764"/>
                  </a:lnTo>
                  <a:cubicBezTo>
                    <a:pt x="1631088" y="1059460"/>
                    <a:pt x="1618365" y="1072184"/>
                    <a:pt x="1602669" y="1072184"/>
                  </a:cubicBezTo>
                  <a:lnTo>
                    <a:pt x="28420" y="1072184"/>
                  </a:lnTo>
                  <a:cubicBezTo>
                    <a:pt x="12724" y="1072184"/>
                    <a:pt x="0" y="1059460"/>
                    <a:pt x="0" y="104376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4">
            <a:extLst>
              <a:ext uri="{FF2B5EF4-FFF2-40B4-BE49-F238E27FC236}">
                <a16:creationId xmlns:a16="http://schemas.microsoft.com/office/drawing/2014/main" id="{5F75D8E9-7604-EDFB-A6AE-FDC8CBFCF33E}"/>
              </a:ext>
            </a:extLst>
          </p:cNvPr>
          <p:cNvGrpSpPr/>
          <p:nvPr/>
        </p:nvGrpSpPr>
        <p:grpSpPr>
          <a:xfrm>
            <a:off x="4574059" y="1287919"/>
            <a:ext cx="2774004" cy="2031459"/>
            <a:chOff x="0" y="0"/>
            <a:chExt cx="1631088" cy="1072184"/>
          </a:xfrm>
        </p:grpSpPr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9D84BE25-F7D4-0A2C-9B60-4864F5D99558}"/>
                </a:ext>
              </a:extLst>
            </p:cNvPr>
            <p:cNvSpPr/>
            <p:nvPr/>
          </p:nvSpPr>
          <p:spPr>
            <a:xfrm>
              <a:off x="0" y="0"/>
              <a:ext cx="1631088" cy="1072184"/>
            </a:xfrm>
            <a:custGeom>
              <a:avLst/>
              <a:gdLst/>
              <a:ahLst/>
              <a:cxnLst/>
              <a:rect l="l" t="t" r="r" b="b"/>
              <a:pathLst>
                <a:path w="1631088" h="1072184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043764"/>
                  </a:lnTo>
                  <a:cubicBezTo>
                    <a:pt x="1631088" y="1059460"/>
                    <a:pt x="1618365" y="1072184"/>
                    <a:pt x="1602669" y="1072184"/>
                  </a:cubicBezTo>
                  <a:lnTo>
                    <a:pt x="28420" y="1072184"/>
                  </a:lnTo>
                  <a:cubicBezTo>
                    <a:pt x="12724" y="1072184"/>
                    <a:pt x="0" y="1059460"/>
                    <a:pt x="0" y="104376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0B6F9DC1-059D-B67E-10CB-E96950BCE240}"/>
              </a:ext>
            </a:extLst>
          </p:cNvPr>
          <p:cNvGrpSpPr/>
          <p:nvPr/>
        </p:nvGrpSpPr>
        <p:grpSpPr>
          <a:xfrm>
            <a:off x="8616308" y="1287919"/>
            <a:ext cx="2774004" cy="2031459"/>
            <a:chOff x="0" y="0"/>
            <a:chExt cx="1631088" cy="1072184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85FDB275-1DA6-C571-C1B6-D3B7BBD0BFEB}"/>
                </a:ext>
              </a:extLst>
            </p:cNvPr>
            <p:cNvSpPr/>
            <p:nvPr/>
          </p:nvSpPr>
          <p:spPr>
            <a:xfrm>
              <a:off x="0" y="0"/>
              <a:ext cx="1631088" cy="1072184"/>
            </a:xfrm>
            <a:custGeom>
              <a:avLst/>
              <a:gdLst/>
              <a:ahLst/>
              <a:cxnLst/>
              <a:rect l="l" t="t" r="r" b="b"/>
              <a:pathLst>
                <a:path w="1631088" h="1072184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043764"/>
                  </a:lnTo>
                  <a:cubicBezTo>
                    <a:pt x="1631088" y="1059460"/>
                    <a:pt x="1618365" y="1072184"/>
                    <a:pt x="1602669" y="1072184"/>
                  </a:cubicBezTo>
                  <a:lnTo>
                    <a:pt x="28420" y="1072184"/>
                  </a:lnTo>
                  <a:cubicBezTo>
                    <a:pt x="12724" y="1072184"/>
                    <a:pt x="0" y="1059460"/>
                    <a:pt x="0" y="104376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FB4144-74E3-AAA2-A887-C92BC9D1042B}"/>
              </a:ext>
            </a:extLst>
          </p:cNvPr>
          <p:cNvGrpSpPr/>
          <p:nvPr/>
        </p:nvGrpSpPr>
        <p:grpSpPr>
          <a:xfrm>
            <a:off x="1729033" y="4786008"/>
            <a:ext cx="9392140" cy="2071992"/>
            <a:chOff x="484533" y="4518422"/>
            <a:chExt cx="9392140" cy="223057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70AB3B6-DDB5-B757-E195-EDCD5CCA9E8A}"/>
                </a:ext>
              </a:extLst>
            </p:cNvPr>
            <p:cNvGrpSpPr/>
            <p:nvPr/>
          </p:nvGrpSpPr>
          <p:grpSpPr>
            <a:xfrm>
              <a:off x="484533" y="4518422"/>
              <a:ext cx="9392140" cy="1626417"/>
              <a:chOff x="484533" y="4518422"/>
              <a:chExt cx="9392140" cy="1626417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835EE3F-7B49-7375-3ECA-609BD684BF90}"/>
                  </a:ext>
                </a:extLst>
              </p:cNvPr>
              <p:cNvGrpSpPr/>
              <p:nvPr/>
            </p:nvGrpSpPr>
            <p:grpSpPr>
              <a:xfrm>
                <a:off x="484533" y="4518422"/>
                <a:ext cx="9392140" cy="1626417"/>
                <a:chOff x="484533" y="4518422"/>
                <a:chExt cx="9392140" cy="1626417"/>
              </a:xfrm>
            </p:grpSpPr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6868E0FB-9056-2A8F-2D6E-A27D40B719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484533" y="4518422"/>
                  <a:ext cx="9392140" cy="1626417"/>
                </a:xfrm>
                <a:prstGeom prst="rect">
                  <a:avLst/>
                </a:prstGeom>
              </p:spPr>
            </p:pic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E567703-F62D-AADC-B4DB-5939AA3F5D1A}"/>
                    </a:ext>
                  </a:extLst>
                </p:cNvPr>
                <p:cNvSpPr txBox="1"/>
                <p:nvPr/>
              </p:nvSpPr>
              <p:spPr>
                <a:xfrm>
                  <a:off x="1897878" y="4904976"/>
                  <a:ext cx="7228483" cy="7620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kumimoji="1" lang="vi-VN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Lấy việc t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iết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giảm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thời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gian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nghiệp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vụ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làm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dự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tính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chi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phí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en-US" altLang="ja-JP" sz="2000" b="1" err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chung</a:t>
                  </a:r>
                  <a:r>
                    <a:rPr kumimoji="1" lang="en-US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MP</a:t>
                  </a:r>
                  <a:r>
                    <a:rPr kumimoji="1" lang="vi-VN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 </a:t>
                  </a:r>
                  <a:r>
                    <a:rPr kumimoji="1" lang="vi-VN" altLang="ja-JP" sz="2000" b="1">
                      <a:solidFill>
                        <a:srgbClr val="FF000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làm tiền đề </a:t>
                  </a:r>
                  <a:r>
                    <a:rPr kumimoji="1" lang="vi-VN" altLang="ja-JP" sz="2000" b="1">
                      <a:solidFill>
                        <a:srgbClr val="00B0F0"/>
                      </a:solidFill>
                      <a:latin typeface="Times" panose="02020603050405020304" pitchFamily="18" charset="0"/>
                      <a:ea typeface="Meiryo UI" panose="020B0604030504040204" pitchFamily="50" charset="-128"/>
                      <a:cs typeface="Times" panose="02020603050405020304" pitchFamily="18" charset="0"/>
                    </a:rPr>
                    <a:t>để triển khai ngang sang các hoạt động khác</a:t>
                  </a:r>
                  <a:endParaRPr kumimoji="1" lang="ja-JP" altLang="en-US" sz="2000" b="1">
                    <a:solidFill>
                      <a:srgbClr val="00B0F0"/>
                    </a:solidFill>
                    <a:latin typeface="Times" panose="02020603050405020304" pitchFamily="18" charset="0"/>
                    <a:ea typeface="Meiryo UI" panose="020B0604030504040204" pitchFamily="50" charset="-128"/>
                    <a:cs typeface="Times" panose="02020603050405020304" pitchFamily="18" charset="0"/>
                  </a:endParaRPr>
                </a:p>
              </p:txBody>
            </p:sp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9731E45-011B-F1C5-CC45-41CD618FBD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1599" t="6843" b="9937"/>
              <a:stretch/>
            </p:blipFill>
            <p:spPr>
              <a:xfrm>
                <a:off x="892757" y="4963894"/>
                <a:ext cx="844442" cy="646331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C97B89C-D53D-9FB7-41D7-1A5B9DE8DDF9}"/>
                </a:ext>
              </a:extLst>
            </p:cNvPr>
            <p:cNvGrpSpPr/>
            <p:nvPr/>
          </p:nvGrpSpPr>
          <p:grpSpPr>
            <a:xfrm>
              <a:off x="8518229" y="5096953"/>
              <a:ext cx="1295544" cy="1652043"/>
              <a:chOff x="8518229" y="5096953"/>
              <a:chExt cx="1295544" cy="165204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8BBD5318-403E-55FA-3F67-9A89D7036371}"/>
                  </a:ext>
                </a:extLst>
              </p:cNvPr>
              <p:cNvSpPr/>
              <p:nvPr/>
            </p:nvSpPr>
            <p:spPr>
              <a:xfrm>
                <a:off x="9319952" y="5096953"/>
                <a:ext cx="45719" cy="225827"/>
              </a:xfrm>
              <a:prstGeom prst="roundRect">
                <a:avLst>
                  <a:gd name="adj" fmla="val 50000"/>
                </a:avLst>
              </a:prstGeom>
              <a:solidFill>
                <a:srgbClr val="00A7E2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FC792FB-53A5-2B09-DB93-33950C32DBDC}"/>
                  </a:ext>
                </a:extLst>
              </p:cNvPr>
              <p:cNvSpPr/>
              <p:nvPr/>
            </p:nvSpPr>
            <p:spPr>
              <a:xfrm rot="19158784">
                <a:off x="9154456" y="5138531"/>
                <a:ext cx="45719" cy="225827"/>
              </a:xfrm>
              <a:prstGeom prst="roundRect">
                <a:avLst>
                  <a:gd name="adj" fmla="val 50000"/>
                </a:avLst>
              </a:prstGeom>
              <a:solidFill>
                <a:srgbClr val="00A7E2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A4FE9C1B-9228-EDD7-9A80-595F96107B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518229" y="5325789"/>
                <a:ext cx="1295544" cy="1423207"/>
              </a:xfrm>
              <a:prstGeom prst="rect">
                <a:avLst/>
              </a:prstGeom>
            </p:spPr>
          </p:pic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728F9E4-72F5-264F-8FD2-B2778DEFC749}"/>
                  </a:ext>
                </a:extLst>
              </p:cNvPr>
              <p:cNvSpPr/>
              <p:nvPr/>
            </p:nvSpPr>
            <p:spPr>
              <a:xfrm rot="2441216" flipH="1">
                <a:off x="9485447" y="5137695"/>
                <a:ext cx="45719" cy="225827"/>
              </a:xfrm>
              <a:prstGeom prst="roundRect">
                <a:avLst>
                  <a:gd name="adj" fmla="val 50000"/>
                </a:avLst>
              </a:prstGeom>
              <a:solidFill>
                <a:srgbClr val="00A7E2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93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913A-774F-F22C-3F45-13DD4122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4</a:t>
            </a:fld>
            <a:endParaRPr kumimoji="1" lang="ja-VN" altLang="en-US"/>
          </a:p>
        </p:txBody>
      </p:sp>
      <p:pic>
        <p:nvPicPr>
          <p:cNvPr id="6" name="Graphic 5" descr="Angel face outline with solid fill">
            <a:extLst>
              <a:ext uri="{FF2B5EF4-FFF2-40B4-BE49-F238E27FC236}">
                <a16:creationId xmlns:a16="http://schemas.microsoft.com/office/drawing/2014/main" id="{7E263928-255E-63B3-5504-112FE54933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" y="787905"/>
            <a:ext cx="914400" cy="9144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5E82DE-A189-5AD9-421F-3704E90EF724}"/>
              </a:ext>
            </a:extLst>
          </p:cNvPr>
          <p:cNvSpPr/>
          <p:nvPr/>
        </p:nvSpPr>
        <p:spPr>
          <a:xfrm>
            <a:off x="1244600" y="524146"/>
            <a:ext cx="4343400" cy="167756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600" b="1">
                <a:latin typeface="+mj-lt"/>
              </a:rPr>
              <a:t>Chi phí có thể copy được: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>
                <a:latin typeface="+mj-lt"/>
              </a:rPr>
              <a:t>水道光熱費（</a:t>
            </a:r>
            <a:r>
              <a:rPr lang="en-US" sz="1600" b="1">
                <a:latin typeface="+mj-lt"/>
              </a:rPr>
              <a:t>Electric &amp; Water）</a:t>
            </a:r>
          </a:p>
        </p:txBody>
      </p:sp>
      <p:pic>
        <p:nvPicPr>
          <p:cNvPr id="10" name="Graphic 9" descr="Loudly crying face outline outline">
            <a:extLst>
              <a:ext uri="{FF2B5EF4-FFF2-40B4-BE49-F238E27FC236}">
                <a16:creationId xmlns:a16="http://schemas.microsoft.com/office/drawing/2014/main" id="{DCD8AB3B-291C-2678-DE8F-CD72F1536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2044" y="667295"/>
            <a:ext cx="914400" cy="9144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D8F85E-3D4B-604F-5D1B-608C63D4A65D}"/>
              </a:ext>
            </a:extLst>
          </p:cNvPr>
          <p:cNvSpPr/>
          <p:nvPr/>
        </p:nvSpPr>
        <p:spPr>
          <a:xfrm>
            <a:off x="7335967" y="479162"/>
            <a:ext cx="4025900" cy="167756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600" b="1">
                <a:latin typeface="+mj-lt"/>
              </a:rPr>
              <a:t>Chi phí cần thao tác: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>
                <a:latin typeface="+mj-lt"/>
              </a:rPr>
              <a:t>総務課配賦分</a:t>
            </a:r>
            <a:endParaRPr lang="vi-VN" altLang="zh-TW" sz="1600" b="1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>
                <a:latin typeface="+mj-lt"/>
              </a:rPr>
              <a:t>FIXED ASSET DEPRECIATION</a:t>
            </a:r>
            <a:endParaRPr lang="vi-VN" altLang="ja-JP" sz="1600" b="1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>
                <a:latin typeface="+mj-lt"/>
              </a:rPr>
              <a:t>FY2027</a:t>
            </a:r>
            <a:r>
              <a:rPr lang="zh-TW" altLang="en-US" sz="1600" b="1">
                <a:latin typeface="+mj-lt"/>
              </a:rPr>
              <a:t>　配賦額一覧</a:t>
            </a:r>
            <a:endParaRPr lang="vi-VN" altLang="zh-TW" sz="1600" b="1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/>
              <a:t>減価償却費（</a:t>
            </a:r>
            <a:r>
              <a:rPr lang="en-US" sz="1600" b="1"/>
              <a:t>Depreciation）</a:t>
            </a:r>
            <a:endParaRPr lang="vi-VN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/>
              <a:t>固定資産金利（</a:t>
            </a:r>
            <a:r>
              <a:rPr lang="en-US" sz="1600" b="1"/>
              <a:t>Interest）</a:t>
            </a:r>
            <a:endParaRPr lang="vi-VN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>
                <a:latin typeface="+mj-lt"/>
              </a:rPr>
              <a:t>….</a:t>
            </a:r>
            <a:endParaRPr lang="en-US" sz="1600" b="1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D4FC43-A0BD-A05A-0C36-E95C00876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434" y="2230307"/>
            <a:ext cx="4225423" cy="18205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F5057A-CF84-97FB-A53A-8CAD925C3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067" y="2706120"/>
            <a:ext cx="4495800" cy="18205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25CEC8-CC11-48F0-A8B5-479FBA2C6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444" y="3474785"/>
            <a:ext cx="4738056" cy="18205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DF5DD73-9320-C6AA-D958-0841C8C2D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755" y="4699473"/>
            <a:ext cx="4363122" cy="15964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D5017F-73BB-5A3F-1807-3CF54BFA79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82" y="2451214"/>
            <a:ext cx="5931335" cy="3733685"/>
          </a:xfrm>
          <a:prstGeom prst="rect">
            <a:avLst/>
          </a:prstGeom>
        </p:spPr>
      </p:pic>
      <p:sp>
        <p:nvSpPr>
          <p:cNvPr id="24" name="テキスト ボックス 1">
            <a:extLst>
              <a:ext uri="{FF2B5EF4-FFF2-40B4-BE49-F238E27FC236}">
                <a16:creationId xmlns:a16="http://schemas.microsoft.com/office/drawing/2014/main" id="{8B915479-3A20-A8BB-ED1E-B8CF50996010}"/>
              </a:ext>
            </a:extLst>
          </p:cNvPr>
          <p:cNvSpPr txBox="1"/>
          <p:nvPr/>
        </p:nvSpPr>
        <p:spPr>
          <a:xfrm>
            <a:off x="4289255" y="-100906"/>
            <a:ext cx="3613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Nắm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endParaRPr kumimoji="1" lang="ja-JP" altLang="en-US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06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82DA-AD3F-A142-1ED8-0C5A3AE2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5</a:t>
            </a:fld>
            <a:endParaRPr kumimoji="1" lang="ja-VN" altLang="en-US"/>
          </a:p>
        </p:txBody>
      </p:sp>
      <p:sp>
        <p:nvSpPr>
          <p:cNvPr id="8" name="テキスト ボックス 1">
            <a:extLst>
              <a:ext uri="{FF2B5EF4-FFF2-40B4-BE49-F238E27FC236}">
                <a16:creationId xmlns:a16="http://schemas.microsoft.com/office/drawing/2014/main" id="{63E3C56D-FA8C-1CD9-94C3-881B30CFA4EF}"/>
              </a:ext>
            </a:extLst>
          </p:cNvPr>
          <p:cNvSpPr txBox="1"/>
          <p:nvPr/>
        </p:nvSpPr>
        <p:spPr>
          <a:xfrm>
            <a:off x="4289255" y="18606"/>
            <a:ext cx="3613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Nắm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endParaRPr kumimoji="1" lang="ja-JP" altLang="en-US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E681D8-8B0D-44BF-3B97-42B3A50E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7" y="1648690"/>
            <a:ext cx="4529309" cy="3131487"/>
          </a:xfrm>
          <a:prstGeom prst="rect">
            <a:avLst/>
          </a:prstGeom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98E4DDF-288A-E2AA-5481-AF6FF6235B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7711716"/>
              </p:ext>
            </p:extLst>
          </p:nvPr>
        </p:nvGraphicFramePr>
        <p:xfrm>
          <a:off x="5530126" y="900545"/>
          <a:ext cx="6661873" cy="5363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Graphic 13" descr="Chevron arrows with solid fill">
            <a:extLst>
              <a:ext uri="{FF2B5EF4-FFF2-40B4-BE49-F238E27FC236}">
                <a16:creationId xmlns:a16="http://schemas.microsoft.com/office/drawing/2014/main" id="{30E59A7F-6991-02C7-06C7-A3C2F2BD9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725" y="24540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7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70F370-9A53-D230-807A-E42E9505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6</a:t>
            </a:fld>
            <a:endParaRPr kumimoji="1" lang="ja-VN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82BF645-146E-F043-2FCC-1FAFBDC2896C}"/>
              </a:ext>
            </a:extLst>
          </p:cNvPr>
          <p:cNvSpPr txBox="1"/>
          <p:nvPr/>
        </p:nvSpPr>
        <p:spPr>
          <a:xfrm>
            <a:off x="1551725" y="-206645"/>
            <a:ext cx="9524010" cy="939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290"/>
              </a:lnSpc>
            </a:pP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  <a:sym typeface="Sigmar One"/>
              </a:rPr>
              <a:t>Thiết </a:t>
            </a:r>
            <a:r>
              <a:rPr lang="en-US" sz="4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igmar One"/>
              </a:rPr>
              <a:t>lập</a:t>
            </a: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  <a:sym typeface="Sigmar One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igmar One"/>
              </a:rPr>
              <a:t>mục</a:t>
            </a: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  <a:sym typeface="Sigmar One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igmar One"/>
              </a:rPr>
              <a:t>tiêu</a:t>
            </a:r>
            <a:endParaRPr lang="en-US" sz="4700" b="1" dirty="0">
              <a:latin typeface="Times New Roman" panose="02020603050405020304" pitchFamily="18" charset="0"/>
              <a:cs typeface="Times New Roman" panose="02020603050405020304" pitchFamily="18" charset="0"/>
              <a:sym typeface="Sigmar One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C5564B19-7F52-735F-5EF7-8843FAF2C9B5}"/>
              </a:ext>
            </a:extLst>
          </p:cNvPr>
          <p:cNvSpPr txBox="1"/>
          <p:nvPr/>
        </p:nvSpPr>
        <p:spPr>
          <a:xfrm>
            <a:off x="2022215" y="818066"/>
            <a:ext cx="898959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Giảm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b="1">
                <a:solidFill>
                  <a:srgbClr val="FF0000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30%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</a:p>
          <a:p>
            <a:pPr algn="ctr"/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thời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gian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nghiệp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vụ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làm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dự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tính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chi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phí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</a:t>
            </a:r>
            <a:r>
              <a:rPr lang="en-US" sz="3000" err="1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chung</a:t>
            </a:r>
            <a:r>
              <a:rPr lang="en-US" sz="3000">
                <a:solidFill>
                  <a:srgbClr val="294152"/>
                </a:solidFill>
                <a:latin typeface="Times New Roman" panose="02020603050405020304" pitchFamily="18" charset="0"/>
                <a:ea typeface="Cabin"/>
                <a:cs typeface="Times New Roman" panose="02020603050405020304" pitchFamily="18" charset="0"/>
                <a:sym typeface="Cabin"/>
              </a:rPr>
              <a:t> MP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8408D69-C415-10E0-ECB1-0B87DFBF3B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404366"/>
              </p:ext>
            </p:extLst>
          </p:nvPr>
        </p:nvGraphicFramePr>
        <p:xfrm>
          <a:off x="2521838" y="2242642"/>
          <a:ext cx="7666182" cy="4533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Picture 9" descr="Happy cartoon bee">
            <a:extLst>
              <a:ext uri="{FF2B5EF4-FFF2-40B4-BE49-F238E27FC236}">
                <a16:creationId xmlns:a16="http://schemas.microsoft.com/office/drawing/2014/main" id="{AA2CA027-2F3E-F85C-21B4-3621557B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92" y="3553224"/>
            <a:ext cx="2888286" cy="317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9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758B9C-A455-A20D-467B-258E5E04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7</a:t>
            </a:fld>
            <a:endParaRPr kumimoji="1" lang="ja-V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48FA6-C9C6-8587-9B79-91FD7E3D3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23" y="777450"/>
            <a:ext cx="9596960" cy="4975200"/>
          </a:xfrm>
          <a:prstGeom prst="rect">
            <a:avLst/>
          </a:prstGeom>
        </p:spPr>
      </p:pic>
      <p:sp>
        <p:nvSpPr>
          <p:cNvPr id="6" name="テキスト ボックス 1">
            <a:extLst>
              <a:ext uri="{FF2B5EF4-FFF2-40B4-BE49-F238E27FC236}">
                <a16:creationId xmlns:a16="http://schemas.microsoft.com/office/drawing/2014/main" id="{9B64412A-AF8D-B134-62C4-DC276A426367}"/>
              </a:ext>
            </a:extLst>
          </p:cNvPr>
          <p:cNvSpPr txBox="1"/>
          <p:nvPr/>
        </p:nvSpPr>
        <p:spPr>
          <a:xfrm>
            <a:off x="4162750" y="103392"/>
            <a:ext cx="4400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kumimoji="1" lang="ja-JP" altLang="en-US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23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73FD-FC0F-0FDE-19EA-275E0739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D828E3-CBD1-CC82-4FFD-7054E3BC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8</a:t>
            </a:fld>
            <a:endParaRPr kumimoji="1" lang="ja-VN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C671DF47-BEFF-1D53-6AAF-741F5FF9B25B}"/>
              </a:ext>
            </a:extLst>
          </p:cNvPr>
          <p:cNvSpPr txBox="1">
            <a:spLocks/>
          </p:cNvSpPr>
          <p:nvPr/>
        </p:nvSpPr>
        <p:spPr>
          <a:xfrm>
            <a:off x="1856405" y="162933"/>
            <a:ext cx="835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>
                <a:solidFill>
                  <a:prstClr val="black"/>
                </a:solidFill>
                <a:latin typeface="Times New Roman" panose="02020603050405020304" pitchFamily="18" charset="0"/>
              </a:rPr>
              <a:t>4. PHÂN TÍCH NGUYÊN NHÂN</a:t>
            </a:r>
            <a:endParaRPr lang="ja-JP" altLang="en-US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Moon 1">
            <a:extLst>
              <a:ext uri="{FF2B5EF4-FFF2-40B4-BE49-F238E27FC236}">
                <a16:creationId xmlns:a16="http://schemas.microsoft.com/office/drawing/2014/main" id="{85D4CDC6-CBCF-46B3-711D-DAB99A7A0FA2}"/>
              </a:ext>
            </a:extLst>
          </p:cNvPr>
          <p:cNvSpPr/>
          <p:nvPr/>
        </p:nvSpPr>
        <p:spPr>
          <a:xfrm flipH="1">
            <a:off x="1570419" y="3400530"/>
            <a:ext cx="981110" cy="903259"/>
          </a:xfrm>
          <a:custGeom>
            <a:avLst/>
            <a:gdLst>
              <a:gd name="connsiteX0" fmla="*/ 762000 w 762000"/>
              <a:gd name="connsiteY0" fmla="*/ 1666875 h 1666875"/>
              <a:gd name="connsiteX1" fmla="*/ 0 w 762000"/>
              <a:gd name="connsiteY1" fmla="*/ 833437 h 1666875"/>
              <a:gd name="connsiteX2" fmla="*/ 762000 w 762000"/>
              <a:gd name="connsiteY2" fmla="*/ -1 h 1666875"/>
              <a:gd name="connsiteX3" fmla="*/ 381000 w 762000"/>
              <a:gd name="connsiteY3" fmla="*/ 833437 h 1666875"/>
              <a:gd name="connsiteX4" fmla="*/ 762000 w 762000"/>
              <a:gd name="connsiteY4" fmla="*/ 1666875 h 1666875"/>
              <a:gd name="connsiteX0" fmla="*/ 1304925 w 1304925"/>
              <a:gd name="connsiteY0" fmla="*/ 1666876 h 1666876"/>
              <a:gd name="connsiteX1" fmla="*/ 0 w 1304925"/>
              <a:gd name="connsiteY1" fmla="*/ 814388 h 1666876"/>
              <a:gd name="connsiteX2" fmla="*/ 1304925 w 1304925"/>
              <a:gd name="connsiteY2" fmla="*/ 0 h 1666876"/>
              <a:gd name="connsiteX3" fmla="*/ 923925 w 1304925"/>
              <a:gd name="connsiteY3" fmla="*/ 833438 h 1666876"/>
              <a:gd name="connsiteX4" fmla="*/ 1304925 w 1304925"/>
              <a:gd name="connsiteY4" fmla="*/ 1666876 h 1666876"/>
              <a:gd name="connsiteX0" fmla="*/ 1304925 w 1304925"/>
              <a:gd name="connsiteY0" fmla="*/ 1666876 h 1666876"/>
              <a:gd name="connsiteX1" fmla="*/ 0 w 1304925"/>
              <a:gd name="connsiteY1" fmla="*/ 814388 h 1666876"/>
              <a:gd name="connsiteX2" fmla="*/ 1304925 w 1304925"/>
              <a:gd name="connsiteY2" fmla="*/ 0 h 1666876"/>
              <a:gd name="connsiteX3" fmla="*/ 647700 w 1304925"/>
              <a:gd name="connsiteY3" fmla="*/ 842963 h 1666876"/>
              <a:gd name="connsiteX4" fmla="*/ 1304925 w 1304925"/>
              <a:gd name="connsiteY4" fmla="*/ 1666876 h 1666876"/>
              <a:gd name="connsiteX0" fmla="*/ 1308990 w 1308990"/>
              <a:gd name="connsiteY0" fmla="*/ 1743076 h 1743076"/>
              <a:gd name="connsiteX1" fmla="*/ 4065 w 1308990"/>
              <a:gd name="connsiteY1" fmla="*/ 890588 h 1743076"/>
              <a:gd name="connsiteX2" fmla="*/ 956565 w 1308990"/>
              <a:gd name="connsiteY2" fmla="*/ 0 h 1743076"/>
              <a:gd name="connsiteX3" fmla="*/ 651765 w 1308990"/>
              <a:gd name="connsiteY3" fmla="*/ 919163 h 1743076"/>
              <a:gd name="connsiteX4" fmla="*/ 1308990 w 1308990"/>
              <a:gd name="connsiteY4" fmla="*/ 1743076 h 1743076"/>
              <a:gd name="connsiteX0" fmla="*/ 1028919 w 1028919"/>
              <a:gd name="connsiteY0" fmla="*/ 1847851 h 1847851"/>
              <a:gd name="connsiteX1" fmla="*/ 219 w 1028919"/>
              <a:gd name="connsiteY1" fmla="*/ 890588 h 1847851"/>
              <a:gd name="connsiteX2" fmla="*/ 952719 w 1028919"/>
              <a:gd name="connsiteY2" fmla="*/ 0 h 1847851"/>
              <a:gd name="connsiteX3" fmla="*/ 647919 w 1028919"/>
              <a:gd name="connsiteY3" fmla="*/ 919163 h 1847851"/>
              <a:gd name="connsiteX4" fmla="*/ 1028919 w 1028919"/>
              <a:gd name="connsiteY4" fmla="*/ 1847851 h 1847851"/>
              <a:gd name="connsiteX0" fmla="*/ 1031484 w 1336937"/>
              <a:gd name="connsiteY0" fmla="*/ 1711780 h 1711780"/>
              <a:gd name="connsiteX1" fmla="*/ 2784 w 1336937"/>
              <a:gd name="connsiteY1" fmla="*/ 754517 h 1711780"/>
              <a:gd name="connsiteX2" fmla="*/ 1336937 w 1336937"/>
              <a:gd name="connsiteY2" fmla="*/ 0 h 1711780"/>
              <a:gd name="connsiteX3" fmla="*/ 650484 w 1336937"/>
              <a:gd name="connsiteY3" fmla="*/ 783092 h 1711780"/>
              <a:gd name="connsiteX4" fmla="*/ 1031484 w 1336937"/>
              <a:gd name="connsiteY4" fmla="*/ 1711780 h 1711780"/>
              <a:gd name="connsiteX0" fmla="*/ 1369491 w 1369492"/>
              <a:gd name="connsiteY0" fmla="*/ 1453244 h 1453244"/>
              <a:gd name="connsiteX1" fmla="*/ 29 w 1369492"/>
              <a:gd name="connsiteY1" fmla="*/ 754517 h 1453244"/>
              <a:gd name="connsiteX2" fmla="*/ 1334182 w 1369492"/>
              <a:gd name="connsiteY2" fmla="*/ 0 h 1453244"/>
              <a:gd name="connsiteX3" fmla="*/ 647729 w 1369492"/>
              <a:gd name="connsiteY3" fmla="*/ 783092 h 1453244"/>
              <a:gd name="connsiteX4" fmla="*/ 1369491 w 1369492"/>
              <a:gd name="connsiteY4" fmla="*/ 1453244 h 145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9492" h="1453244">
                <a:moveTo>
                  <a:pt x="1369491" y="1453244"/>
                </a:moveTo>
                <a:cubicBezTo>
                  <a:pt x="948650" y="1453244"/>
                  <a:pt x="5914" y="996724"/>
                  <a:pt x="29" y="754517"/>
                </a:cubicBezTo>
                <a:cubicBezTo>
                  <a:pt x="-5856" y="512310"/>
                  <a:pt x="913341" y="0"/>
                  <a:pt x="1334182" y="0"/>
                </a:cubicBezTo>
                <a:cubicBezTo>
                  <a:pt x="1094337" y="196748"/>
                  <a:pt x="641844" y="540885"/>
                  <a:pt x="647729" y="783092"/>
                </a:cubicBezTo>
                <a:cubicBezTo>
                  <a:pt x="653614" y="1025299"/>
                  <a:pt x="1129646" y="1256496"/>
                  <a:pt x="1369491" y="1453244"/>
                </a:cubicBez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0349B-37E4-FDB9-4BDC-6D934B930080}"/>
              </a:ext>
            </a:extLst>
          </p:cNvPr>
          <p:cNvSpPr/>
          <p:nvPr/>
        </p:nvSpPr>
        <p:spPr>
          <a:xfrm>
            <a:off x="2556929" y="3845658"/>
            <a:ext cx="6778916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0E3E0235-D422-9A7D-51A8-921E8D934EF6}"/>
              </a:ext>
            </a:extLst>
          </p:cNvPr>
          <p:cNvSpPr/>
          <p:nvPr/>
        </p:nvSpPr>
        <p:spPr>
          <a:xfrm>
            <a:off x="9154917" y="3306066"/>
            <a:ext cx="988600" cy="1095286"/>
          </a:xfrm>
          <a:custGeom>
            <a:avLst/>
            <a:gdLst>
              <a:gd name="connsiteX0" fmla="*/ 0 w 1695450"/>
              <a:gd name="connsiteY0" fmla="*/ 847725 h 1695450"/>
              <a:gd name="connsiteX1" fmla="*/ 847725 w 1695450"/>
              <a:gd name="connsiteY1" fmla="*/ 0 h 1695450"/>
              <a:gd name="connsiteX2" fmla="*/ 1695450 w 1695450"/>
              <a:gd name="connsiteY2" fmla="*/ 847725 h 1695450"/>
              <a:gd name="connsiteX3" fmla="*/ 847725 w 1695450"/>
              <a:gd name="connsiteY3" fmla="*/ 1695450 h 1695450"/>
              <a:gd name="connsiteX4" fmla="*/ 0 w 1695450"/>
              <a:gd name="connsiteY4" fmla="*/ 847725 h 1695450"/>
              <a:gd name="connsiteX0" fmla="*/ 0 w 1323975"/>
              <a:gd name="connsiteY0" fmla="*/ 866794 h 1695489"/>
              <a:gd name="connsiteX1" fmla="*/ 476250 w 1323975"/>
              <a:gd name="connsiteY1" fmla="*/ 19 h 1695489"/>
              <a:gd name="connsiteX2" fmla="*/ 1323975 w 1323975"/>
              <a:gd name="connsiteY2" fmla="*/ 847744 h 1695489"/>
              <a:gd name="connsiteX3" fmla="*/ 476250 w 1323975"/>
              <a:gd name="connsiteY3" fmla="*/ 1695469 h 1695489"/>
              <a:gd name="connsiteX4" fmla="*/ 0 w 1323975"/>
              <a:gd name="connsiteY4" fmla="*/ 866794 h 1695489"/>
              <a:gd name="connsiteX0" fmla="*/ 0 w 1104900"/>
              <a:gd name="connsiteY0" fmla="*/ 876343 h 1695540"/>
              <a:gd name="connsiteX1" fmla="*/ 257175 w 1104900"/>
              <a:gd name="connsiteY1" fmla="*/ 43 h 1695540"/>
              <a:gd name="connsiteX2" fmla="*/ 1104900 w 1104900"/>
              <a:gd name="connsiteY2" fmla="*/ 847768 h 1695540"/>
              <a:gd name="connsiteX3" fmla="*/ 257175 w 1104900"/>
              <a:gd name="connsiteY3" fmla="*/ 1695493 h 1695540"/>
              <a:gd name="connsiteX4" fmla="*/ 0 w 1104900"/>
              <a:gd name="connsiteY4" fmla="*/ 876343 h 1695540"/>
              <a:gd name="connsiteX0" fmla="*/ 274883 w 1379783"/>
              <a:gd name="connsiteY0" fmla="*/ 914439 h 1733620"/>
              <a:gd name="connsiteX1" fmla="*/ 55808 w 1379783"/>
              <a:gd name="connsiteY1" fmla="*/ 39 h 1733620"/>
              <a:gd name="connsiteX2" fmla="*/ 1379783 w 1379783"/>
              <a:gd name="connsiteY2" fmla="*/ 885864 h 1733620"/>
              <a:gd name="connsiteX3" fmla="*/ 532058 w 1379783"/>
              <a:gd name="connsiteY3" fmla="*/ 1733589 h 1733620"/>
              <a:gd name="connsiteX4" fmla="*/ 274883 w 1379783"/>
              <a:gd name="connsiteY4" fmla="*/ 914439 h 1733620"/>
              <a:gd name="connsiteX0" fmla="*/ 267243 w 1372143"/>
              <a:gd name="connsiteY0" fmla="*/ 914439 h 1762194"/>
              <a:gd name="connsiteX1" fmla="*/ 48168 w 1372143"/>
              <a:gd name="connsiteY1" fmla="*/ 39 h 1762194"/>
              <a:gd name="connsiteX2" fmla="*/ 1372143 w 1372143"/>
              <a:gd name="connsiteY2" fmla="*/ 885864 h 1762194"/>
              <a:gd name="connsiteX3" fmla="*/ 48168 w 1372143"/>
              <a:gd name="connsiteY3" fmla="*/ 1762164 h 1762194"/>
              <a:gd name="connsiteX4" fmla="*/ 267243 w 1372143"/>
              <a:gd name="connsiteY4" fmla="*/ 914439 h 17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2143" h="1762194">
                <a:moveTo>
                  <a:pt x="267243" y="914439"/>
                </a:moveTo>
                <a:cubicBezTo>
                  <a:pt x="267243" y="620752"/>
                  <a:pt x="-135982" y="4801"/>
                  <a:pt x="48168" y="39"/>
                </a:cubicBezTo>
                <a:cubicBezTo>
                  <a:pt x="232318" y="-4723"/>
                  <a:pt x="1372143" y="417678"/>
                  <a:pt x="1372143" y="885864"/>
                </a:cubicBezTo>
                <a:cubicBezTo>
                  <a:pt x="1372143" y="1354050"/>
                  <a:pt x="232318" y="1757402"/>
                  <a:pt x="48168" y="1762164"/>
                </a:cubicBezTo>
                <a:cubicBezTo>
                  <a:pt x="-135982" y="1766926"/>
                  <a:pt x="267243" y="1208126"/>
                  <a:pt x="267243" y="914439"/>
                </a:cubicBez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007007-E131-D606-21BD-B3650B4D4148}"/>
              </a:ext>
            </a:extLst>
          </p:cNvPr>
          <p:cNvSpPr/>
          <p:nvPr/>
        </p:nvSpPr>
        <p:spPr>
          <a:xfrm>
            <a:off x="9536122" y="3588778"/>
            <a:ext cx="136709" cy="11840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10EC4-E801-6DA6-4C89-9D3B0657EAD1}"/>
              </a:ext>
            </a:extLst>
          </p:cNvPr>
          <p:cNvSpPr/>
          <p:nvPr/>
        </p:nvSpPr>
        <p:spPr>
          <a:xfrm rot="3728220">
            <a:off x="6023969" y="2688816"/>
            <a:ext cx="2280505" cy="820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A62FDF-641E-99E2-B481-7CCC93F0765F}"/>
              </a:ext>
            </a:extLst>
          </p:cNvPr>
          <p:cNvSpPr/>
          <p:nvPr/>
        </p:nvSpPr>
        <p:spPr>
          <a:xfrm rot="3728220" flipV="1">
            <a:off x="2714715" y="2755632"/>
            <a:ext cx="2431047" cy="607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3B4667-BA66-EBD8-E438-AEC89D655A92}"/>
              </a:ext>
            </a:extLst>
          </p:cNvPr>
          <p:cNvSpPr/>
          <p:nvPr/>
        </p:nvSpPr>
        <p:spPr>
          <a:xfrm rot="18320339" flipV="1">
            <a:off x="6143899" y="4679526"/>
            <a:ext cx="2033801" cy="549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1469C9BA-6194-429E-F417-FD6FE79CDAB9}"/>
              </a:ext>
            </a:extLst>
          </p:cNvPr>
          <p:cNvSpPr/>
          <p:nvPr/>
        </p:nvSpPr>
        <p:spPr>
          <a:xfrm>
            <a:off x="6142990" y="1240773"/>
            <a:ext cx="1720293" cy="405092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4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loud Callout 27">
            <a:extLst>
              <a:ext uri="{FF2B5EF4-FFF2-40B4-BE49-F238E27FC236}">
                <a16:creationId xmlns:a16="http://schemas.microsoft.com/office/drawing/2014/main" id="{04CAE7E1-EBD8-DB65-238A-BED50E2A718A}"/>
              </a:ext>
            </a:extLst>
          </p:cNvPr>
          <p:cNvSpPr/>
          <p:nvPr/>
        </p:nvSpPr>
        <p:spPr>
          <a:xfrm>
            <a:off x="9680564" y="1857687"/>
            <a:ext cx="2061275" cy="1487568"/>
          </a:xfrm>
          <a:prstGeom prst="cloudCallout">
            <a:avLst>
              <a:gd name="adj1" fmla="val -24144"/>
              <a:gd name="adj2" fmla="val 7744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Tại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sao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mất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nhiều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thời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gian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xử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lý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nghiệp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 </a:t>
            </a:r>
            <a:r>
              <a:rPr lang="en-US" altLang="ja-JP" sz="1400" b="1" err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vụ</a:t>
            </a:r>
            <a:r>
              <a:rPr lang="en-US" altLang="ja-JP" sz="1400" b="1">
                <a:solidFill>
                  <a:srgbClr val="FF0000"/>
                </a:solidFill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?</a:t>
            </a:r>
            <a:endParaRPr lang="en-US" sz="1400" b="1">
              <a:solidFill>
                <a:srgbClr val="FF0000"/>
              </a:solidFill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50EAB57A-88D0-9D47-3302-A8EB118FAF32}"/>
              </a:ext>
            </a:extLst>
          </p:cNvPr>
          <p:cNvSpPr/>
          <p:nvPr/>
        </p:nvSpPr>
        <p:spPr>
          <a:xfrm>
            <a:off x="2759513" y="1324508"/>
            <a:ext cx="1393455" cy="433343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endParaRPr lang="en-US" sz="14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2BE57A0-F000-D4E9-B30F-641FEC6F2810}"/>
              </a:ext>
            </a:extLst>
          </p:cNvPr>
          <p:cNvSpPr/>
          <p:nvPr/>
        </p:nvSpPr>
        <p:spPr>
          <a:xfrm>
            <a:off x="6015702" y="5555193"/>
            <a:ext cx="1441705" cy="372626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14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9434B254-8F3B-31B6-461C-85AD7725FCE4}"/>
              </a:ext>
            </a:extLst>
          </p:cNvPr>
          <p:cNvSpPr/>
          <p:nvPr/>
        </p:nvSpPr>
        <p:spPr>
          <a:xfrm>
            <a:off x="7393121" y="4523422"/>
            <a:ext cx="1677653" cy="561114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GB" sz="1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GB" sz="12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1AF0FD-90ED-0CDA-3B0E-9DB3499AF96D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7037472" y="4803979"/>
            <a:ext cx="355649" cy="2792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4864D4B4-6725-B7B8-FDE4-4738FF3B65D0}"/>
              </a:ext>
            </a:extLst>
          </p:cNvPr>
          <p:cNvSpPr/>
          <p:nvPr/>
        </p:nvSpPr>
        <p:spPr>
          <a:xfrm>
            <a:off x="7291006" y="2476655"/>
            <a:ext cx="2061275" cy="390038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vi-VN" sz="12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 chi phí từ nhiều nguồn, chưa được chuẩn hóa</a:t>
            </a:r>
            <a:endParaRPr lang="en-GB" sz="12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23414C-91A8-98A0-5D99-F7B30C7BBDE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888326" y="2449974"/>
            <a:ext cx="1015053" cy="35024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c 18">
            <a:extLst>
              <a:ext uri="{FF2B5EF4-FFF2-40B4-BE49-F238E27FC236}">
                <a16:creationId xmlns:a16="http://schemas.microsoft.com/office/drawing/2014/main" id="{E7C6836C-D4C9-34DD-53EA-D22631639CFB}"/>
              </a:ext>
            </a:extLst>
          </p:cNvPr>
          <p:cNvSpPr/>
          <p:nvPr/>
        </p:nvSpPr>
        <p:spPr>
          <a:xfrm rot="17557033">
            <a:off x="9581940" y="3903647"/>
            <a:ext cx="769630" cy="830019"/>
          </a:xfrm>
          <a:prstGeom prst="arc">
            <a:avLst>
              <a:gd name="adj1" fmla="val 18079542"/>
              <a:gd name="adj2" fmla="val 0"/>
            </a:avLst>
          </a:prstGeom>
          <a:ln w="28575">
            <a:solidFill>
              <a:sysClr val="windowText" lastClr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62A62A-4838-4FBC-3B97-367D9524A4AF}"/>
              </a:ext>
            </a:extLst>
          </p:cNvPr>
          <p:cNvSpPr/>
          <p:nvPr/>
        </p:nvSpPr>
        <p:spPr>
          <a:xfrm rot="18320339" flipV="1">
            <a:off x="2290198" y="4641005"/>
            <a:ext cx="190015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4D9BAB0B-A2A2-C4BF-9D0A-D59BB279FC35}"/>
              </a:ext>
            </a:extLst>
          </p:cNvPr>
          <p:cNvSpPr/>
          <p:nvPr/>
        </p:nvSpPr>
        <p:spPr>
          <a:xfrm>
            <a:off x="1567138" y="5282202"/>
            <a:ext cx="1709336" cy="372626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móc</a:t>
            </a:r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en-US" sz="14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7D540A-748D-60F4-65CB-F3767A8F401D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6442303" y="4070525"/>
            <a:ext cx="1077407" cy="138927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004B9D0C-F2E8-BE2C-7979-BD25C1AFBC99}"/>
              </a:ext>
            </a:extLst>
          </p:cNvPr>
          <p:cNvSpPr/>
          <p:nvPr/>
        </p:nvSpPr>
        <p:spPr>
          <a:xfrm>
            <a:off x="4284983" y="2455998"/>
            <a:ext cx="1426254" cy="390039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GB" sz="10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GB" sz="10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RPA, </a:t>
            </a:r>
            <a:r>
              <a:rPr lang="en-GB" sz="10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Marcro</a:t>
            </a:r>
            <a:r>
              <a:rPr lang="en-GB" sz="10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VBA </a:t>
            </a:r>
            <a:r>
              <a:rPr lang="en-GB" sz="10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10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GB" sz="10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lang="en-GB" sz="10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D2B288-47CB-155C-AB6C-2F4A5ADB7954}"/>
              </a:ext>
            </a:extLst>
          </p:cNvPr>
          <p:cNvCxnSpPr>
            <a:cxnSpLocks/>
          </p:cNvCxnSpPr>
          <p:nvPr/>
        </p:nvCxnSpPr>
        <p:spPr>
          <a:xfrm>
            <a:off x="9070774" y="4959215"/>
            <a:ext cx="301618" cy="10514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57783445-A9AF-6C8B-54CE-85D3C8BA941D}"/>
              </a:ext>
            </a:extLst>
          </p:cNvPr>
          <p:cNvSpPr/>
          <p:nvPr/>
        </p:nvSpPr>
        <p:spPr>
          <a:xfrm>
            <a:off x="9269082" y="4979435"/>
            <a:ext cx="1014174" cy="390038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38C1C9-0FB3-6051-0A0D-66B23ABC5DC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9070774" y="4712763"/>
            <a:ext cx="242273" cy="9121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153A61B1-6042-48D0-494D-AF3218D0C3C3}"/>
              </a:ext>
            </a:extLst>
          </p:cNvPr>
          <p:cNvSpPr/>
          <p:nvPr/>
        </p:nvSpPr>
        <p:spPr>
          <a:xfrm>
            <a:off x="9277219" y="4498503"/>
            <a:ext cx="1014174" cy="390038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5E0553-C702-C91A-EC37-1098C5E880EF}"/>
              </a:ext>
            </a:extLst>
          </p:cNvPr>
          <p:cNvCxnSpPr/>
          <p:nvPr/>
        </p:nvCxnSpPr>
        <p:spPr>
          <a:xfrm>
            <a:off x="2746528" y="4557384"/>
            <a:ext cx="538919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FD350C26-3AAB-EFB4-B4FF-A5543B5486A8}"/>
              </a:ext>
            </a:extLst>
          </p:cNvPr>
          <p:cNvSpPr/>
          <p:nvPr/>
        </p:nvSpPr>
        <p:spPr>
          <a:xfrm>
            <a:off x="1615913" y="4291081"/>
            <a:ext cx="1418301" cy="40244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dưỡng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9F62C4F-42B4-478B-FF3F-A5A2F1ABEB90}"/>
              </a:ext>
            </a:extLst>
          </p:cNvPr>
          <p:cNvCxnSpPr>
            <a:cxnSpLocks/>
          </p:cNvCxnSpPr>
          <p:nvPr/>
        </p:nvCxnSpPr>
        <p:spPr>
          <a:xfrm flipH="1" flipV="1">
            <a:off x="3454222" y="4422450"/>
            <a:ext cx="535841" cy="20194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0A02BA4F-F3E8-C477-4AA3-44BF6856A46B}"/>
              </a:ext>
            </a:extLst>
          </p:cNvPr>
          <p:cNvSpPr/>
          <p:nvPr/>
        </p:nvSpPr>
        <p:spPr>
          <a:xfrm>
            <a:off x="2130689" y="2138503"/>
            <a:ext cx="1246323" cy="390038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BCFAB2-DAB3-DFF3-37E4-38CD50389C2D}"/>
              </a:ext>
            </a:extLst>
          </p:cNvPr>
          <p:cNvCxnSpPr>
            <a:cxnSpLocks/>
            <a:stCxn id="8" idx="0"/>
            <a:endCxn id="17" idx="1"/>
          </p:cNvCxnSpPr>
          <p:nvPr/>
        </p:nvCxnSpPr>
        <p:spPr>
          <a:xfrm flipV="1">
            <a:off x="7200506" y="2671674"/>
            <a:ext cx="90500" cy="3900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473DEE0-285A-A6F5-EA4A-2794080D73D9}"/>
              </a:ext>
            </a:extLst>
          </p:cNvPr>
          <p:cNvCxnSpPr/>
          <p:nvPr/>
        </p:nvCxnSpPr>
        <p:spPr>
          <a:xfrm flipH="1" flipV="1">
            <a:off x="7835554" y="2172166"/>
            <a:ext cx="213426" cy="28467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503F721A-8C87-A450-AEBF-916083E1D73E}"/>
              </a:ext>
            </a:extLst>
          </p:cNvPr>
          <p:cNvSpPr/>
          <p:nvPr/>
        </p:nvSpPr>
        <p:spPr>
          <a:xfrm>
            <a:off x="7191817" y="1723941"/>
            <a:ext cx="1963100" cy="532415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vi-VN" sz="1000">
                <a:solidFill>
                  <a:prstClr val="black"/>
                </a:solidFill>
                <a:latin typeface="Times New Roman" panose="02020603050405020304" pitchFamily="18" charset="0"/>
              </a:rPr>
              <a:t>Nhiều bước xử lý do phụ thuộc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vào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dữ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liệu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của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vi-VN" sz="1000">
                <a:solidFill>
                  <a:prstClr val="black"/>
                </a:solidFill>
                <a:latin typeface="Times New Roman" panose="02020603050405020304" pitchFamily="18" charset="0"/>
              </a:rPr>
              <a:t>các bộ phận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phân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bổ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</a:rPr>
              <a:t> chi </a:t>
            </a:r>
            <a:r>
              <a:rPr lang="en-US" sz="1000" err="1">
                <a:solidFill>
                  <a:prstClr val="black"/>
                </a:solidFill>
                <a:latin typeface="Times New Roman" panose="02020603050405020304" pitchFamily="18" charset="0"/>
              </a:rPr>
              <a:t>phí</a:t>
            </a:r>
            <a:endParaRPr lang="en-GB" sz="1000" kern="0">
              <a:solidFill>
                <a:prstClr val="black"/>
              </a:solidFill>
              <a:latin typeface="Aptos Display" panose="02110004020202020204"/>
              <a:cs typeface="Times New Roman" panose="02020603050405020304" pitchFamily="18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65A69CF-26E1-A44D-00DC-B219DF6DC104}"/>
              </a:ext>
            </a:extLst>
          </p:cNvPr>
          <p:cNvCxnSpPr/>
          <p:nvPr/>
        </p:nvCxnSpPr>
        <p:spPr>
          <a:xfrm>
            <a:off x="6442303" y="2234888"/>
            <a:ext cx="555500" cy="10358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id="{FE50FA35-4EB8-5CD9-C79D-3212F76F6001}"/>
              </a:ext>
            </a:extLst>
          </p:cNvPr>
          <p:cNvSpPr/>
          <p:nvPr/>
        </p:nvSpPr>
        <p:spPr>
          <a:xfrm>
            <a:off x="5729788" y="3188669"/>
            <a:ext cx="1464597" cy="532414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E99911-CD0C-D5AC-8CA1-0F6B7CAD52F4}"/>
              </a:ext>
            </a:extLst>
          </p:cNvPr>
          <p:cNvCxnSpPr/>
          <p:nvPr/>
        </p:nvCxnSpPr>
        <p:spPr>
          <a:xfrm>
            <a:off x="6908927" y="3445076"/>
            <a:ext cx="497463" cy="724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22CB15C2-1284-EC45-03A6-FD8D5F037B52}"/>
              </a:ext>
            </a:extLst>
          </p:cNvPr>
          <p:cNvSpPr/>
          <p:nvPr/>
        </p:nvSpPr>
        <p:spPr>
          <a:xfrm>
            <a:off x="3381928" y="4608275"/>
            <a:ext cx="1441704" cy="40244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9" name="Graphic 38" descr="Gears with solid fill">
            <a:extLst>
              <a:ext uri="{FF2B5EF4-FFF2-40B4-BE49-F238E27FC236}">
                <a16:creationId xmlns:a16="http://schemas.microsoft.com/office/drawing/2014/main" id="{56B4F8FB-1E8F-3D7F-C887-B56ACE4BF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6183" y="5811822"/>
            <a:ext cx="770400" cy="7704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59C1F48-B8D6-45B5-350A-28A418B85025}"/>
              </a:ext>
            </a:extLst>
          </p:cNvPr>
          <p:cNvCxnSpPr>
            <a:cxnSpLocks/>
          </p:cNvCxnSpPr>
          <p:nvPr/>
        </p:nvCxnSpPr>
        <p:spPr>
          <a:xfrm flipV="1">
            <a:off x="4338751" y="3068601"/>
            <a:ext cx="557877" cy="40450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AEDD9D-2824-AE98-26C5-4952BFEFEDF7}"/>
              </a:ext>
            </a:extLst>
          </p:cNvPr>
          <p:cNvCxnSpPr>
            <a:cxnSpLocks/>
          </p:cNvCxnSpPr>
          <p:nvPr/>
        </p:nvCxnSpPr>
        <p:spPr>
          <a:xfrm>
            <a:off x="3293449" y="3120464"/>
            <a:ext cx="779282" cy="829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 descr="Male profile with solid fill">
            <a:extLst>
              <a:ext uri="{FF2B5EF4-FFF2-40B4-BE49-F238E27FC236}">
                <a16:creationId xmlns:a16="http://schemas.microsoft.com/office/drawing/2014/main" id="{7A0653A9-6B99-4440-C5F1-EFE45F026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9544" y="1097297"/>
            <a:ext cx="666442" cy="673677"/>
          </a:xfrm>
          <a:prstGeom prst="rect">
            <a:avLst/>
          </a:prstGeom>
        </p:spPr>
      </p:pic>
      <p:sp>
        <p:nvSpPr>
          <p:cNvPr id="43" name="Flowchart: Alternate Process 42">
            <a:extLst>
              <a:ext uri="{FF2B5EF4-FFF2-40B4-BE49-F238E27FC236}">
                <a16:creationId xmlns:a16="http://schemas.microsoft.com/office/drawing/2014/main" id="{890310B6-EC42-4A74-C33F-33CB05190870}"/>
              </a:ext>
            </a:extLst>
          </p:cNvPr>
          <p:cNvSpPr/>
          <p:nvPr/>
        </p:nvSpPr>
        <p:spPr>
          <a:xfrm>
            <a:off x="5224543" y="4017552"/>
            <a:ext cx="1217760" cy="383800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chi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0B00B9-76A3-C6A7-7526-1555F035A78C}"/>
              </a:ext>
            </a:extLst>
          </p:cNvPr>
          <p:cNvCxnSpPr>
            <a:cxnSpLocks/>
          </p:cNvCxnSpPr>
          <p:nvPr/>
        </p:nvCxnSpPr>
        <p:spPr>
          <a:xfrm flipH="1" flipV="1">
            <a:off x="6343746" y="4939668"/>
            <a:ext cx="631420" cy="615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518A42D4-B8FD-8112-228A-DE0AD4F4D775}"/>
              </a:ext>
            </a:extLst>
          </p:cNvPr>
          <p:cNvSpPr/>
          <p:nvPr/>
        </p:nvSpPr>
        <p:spPr>
          <a:xfrm>
            <a:off x="5024871" y="4629273"/>
            <a:ext cx="1566094" cy="682620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rình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altLang="ja-JP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ất</a:t>
            </a:r>
            <a:r>
              <a:rPr lang="en-GB" altLang="ja-JP" sz="1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  <a:r>
              <a:rPr lang="en-GB" altLang="ja-JP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nhiều</a:t>
            </a:r>
            <a:r>
              <a:rPr lang="en-GB" altLang="ja-JP" sz="1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  <a:r>
              <a:rPr lang="en-GB" altLang="ja-JP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thời</a:t>
            </a:r>
            <a:r>
              <a:rPr lang="en-GB" altLang="ja-JP" sz="1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  <a:r>
              <a:rPr lang="en-GB" altLang="ja-JP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gian</a:t>
            </a:r>
            <a:r>
              <a:rPr lang="en-GB" altLang="ja-JP" sz="1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  <a:r>
              <a:rPr lang="en-GB" altLang="ja-JP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xử</a:t>
            </a:r>
            <a:r>
              <a:rPr lang="en-GB" altLang="ja-JP" sz="1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  <a:r>
              <a:rPr lang="en-GB" altLang="ja-JP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lý</a:t>
            </a:r>
            <a:r>
              <a:rPr lang="en-GB" altLang="ja-JP" sz="1000" kern="0">
                <a:solidFill>
                  <a:sysClr val="windowText" lastClr="00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 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Graphic 45" descr="Cloud Computing with solid fill">
            <a:extLst>
              <a:ext uri="{FF2B5EF4-FFF2-40B4-BE49-F238E27FC236}">
                <a16:creationId xmlns:a16="http://schemas.microsoft.com/office/drawing/2014/main" id="{452637A8-88BC-DF53-A2BF-5ACCBFC60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4681" y="5811823"/>
            <a:ext cx="775989" cy="693585"/>
          </a:xfrm>
          <a:prstGeom prst="rect">
            <a:avLst/>
          </a:prstGeom>
        </p:spPr>
      </p:pic>
      <p:pic>
        <p:nvPicPr>
          <p:cNvPr id="47" name="Graphic 46" descr="Clipboard Partially Checked with solid fill">
            <a:extLst>
              <a:ext uri="{FF2B5EF4-FFF2-40B4-BE49-F238E27FC236}">
                <a16:creationId xmlns:a16="http://schemas.microsoft.com/office/drawing/2014/main" id="{4DD6149A-234D-B5F0-091B-08E92A74E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597" y="1058612"/>
            <a:ext cx="664833" cy="664833"/>
          </a:xfrm>
          <a:prstGeom prst="rect">
            <a:avLst/>
          </a:prstGeom>
        </p:spPr>
      </p:pic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42E815C9-C9C9-4862-65C0-4FD196FDC8EA}"/>
              </a:ext>
            </a:extLst>
          </p:cNvPr>
          <p:cNvSpPr/>
          <p:nvPr/>
        </p:nvSpPr>
        <p:spPr>
          <a:xfrm>
            <a:off x="5409596" y="2006756"/>
            <a:ext cx="1284912" cy="384600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tệ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,…)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7B15E70-E344-89C9-DC6B-828D6FDAA395}"/>
              </a:ext>
            </a:extLst>
          </p:cNvPr>
          <p:cNvCxnSpPr/>
          <p:nvPr/>
        </p:nvCxnSpPr>
        <p:spPr>
          <a:xfrm>
            <a:off x="7457407" y="3188830"/>
            <a:ext cx="497463" cy="724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747E2715-226D-BF56-C0E9-0D350DA118FF}"/>
              </a:ext>
            </a:extLst>
          </p:cNvPr>
          <p:cNvSpPr/>
          <p:nvPr/>
        </p:nvSpPr>
        <p:spPr>
          <a:xfrm>
            <a:off x="7886140" y="2962679"/>
            <a:ext cx="1441552" cy="532415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GB" sz="1000" ker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9D0C0E52-65F6-1EF7-64B4-E76DF92CE1B9}"/>
              </a:ext>
            </a:extLst>
          </p:cNvPr>
          <p:cNvSpPr/>
          <p:nvPr/>
        </p:nvSpPr>
        <p:spPr>
          <a:xfrm>
            <a:off x="2113115" y="2897137"/>
            <a:ext cx="1422514" cy="350240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15FFD69C-F674-5B69-CD86-52FFA1F0F898}"/>
              </a:ext>
            </a:extLst>
          </p:cNvPr>
          <p:cNvSpPr/>
          <p:nvPr/>
        </p:nvSpPr>
        <p:spPr>
          <a:xfrm>
            <a:off x="4807987" y="2831965"/>
            <a:ext cx="1387428" cy="395847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saisan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5873033-6814-6872-F574-FF0F4A30D53D}"/>
              </a:ext>
            </a:extLst>
          </p:cNvPr>
          <p:cNvCxnSpPr>
            <a:cxnSpLocks/>
          </p:cNvCxnSpPr>
          <p:nvPr/>
        </p:nvCxnSpPr>
        <p:spPr>
          <a:xfrm flipV="1">
            <a:off x="3887264" y="2232850"/>
            <a:ext cx="557877" cy="40450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owchart: Alternate Process 53">
            <a:extLst>
              <a:ext uri="{FF2B5EF4-FFF2-40B4-BE49-F238E27FC236}">
                <a16:creationId xmlns:a16="http://schemas.microsoft.com/office/drawing/2014/main" id="{4B5288F4-F118-268E-DAB8-DF5DEDBC2631}"/>
              </a:ext>
            </a:extLst>
          </p:cNvPr>
          <p:cNvSpPr/>
          <p:nvPr/>
        </p:nvSpPr>
        <p:spPr>
          <a:xfrm>
            <a:off x="4343718" y="2043985"/>
            <a:ext cx="1145375" cy="395847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GB" sz="10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kern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endParaRPr lang="en-GB" sz="100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8D6766-9447-30CD-C408-7F8BFEB834FA}"/>
              </a:ext>
            </a:extLst>
          </p:cNvPr>
          <p:cNvCxnSpPr>
            <a:cxnSpLocks/>
          </p:cNvCxnSpPr>
          <p:nvPr/>
        </p:nvCxnSpPr>
        <p:spPr>
          <a:xfrm flipV="1">
            <a:off x="4005725" y="2757285"/>
            <a:ext cx="381604" cy="24324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2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4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17" grpId="0" animBg="1"/>
      <p:bldP spid="17" grpId="1" animBg="1"/>
      <p:bldP spid="19" grpId="0" animBg="1"/>
      <p:bldP spid="20" grpId="0" animBg="1"/>
      <p:bldP spid="21" grpId="0" animBg="1"/>
      <p:bldP spid="23" grpId="0"/>
      <p:bldP spid="25" grpId="0"/>
      <p:bldP spid="27" grpId="0"/>
      <p:bldP spid="29" grpId="0"/>
      <p:bldP spid="31" grpId="0"/>
      <p:bldP spid="34" grpId="0"/>
      <p:bldP spid="36" grpId="0"/>
      <p:bldP spid="38" grpId="0"/>
      <p:bldP spid="43" grpId="0"/>
      <p:bldP spid="45" grpId="0"/>
      <p:bldP spid="48" grpId="0"/>
      <p:bldP spid="50" grpId="0"/>
      <p:bldP spid="51" grpId="0"/>
      <p:bldP spid="52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7A45-B2B6-A895-3141-EFBE1F8A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F1ADC6-A7FF-34A8-E2B3-DC09AC32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9</a:t>
            </a:fld>
            <a:endParaRPr kumimoji="1" lang="ja-VN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DDDD62-BCD8-16E5-DA08-B6633C1A0766}"/>
              </a:ext>
            </a:extLst>
          </p:cNvPr>
          <p:cNvGrpSpPr/>
          <p:nvPr/>
        </p:nvGrpSpPr>
        <p:grpSpPr>
          <a:xfrm>
            <a:off x="6193942" y="852773"/>
            <a:ext cx="4600981" cy="3525536"/>
            <a:chOff x="4822880" y="600486"/>
            <a:chExt cx="4130331" cy="53486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FC1EEF-A9C8-2211-9A50-0E7C59FA5D0D}"/>
                </a:ext>
              </a:extLst>
            </p:cNvPr>
            <p:cNvSpPr/>
            <p:nvPr/>
          </p:nvSpPr>
          <p:spPr>
            <a:xfrm>
              <a:off x="4822880" y="1006325"/>
              <a:ext cx="4130331" cy="494277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/>
                <a:t>m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2F7839-C01A-0D30-C152-FFE7775A4B5D}"/>
                </a:ext>
              </a:extLst>
            </p:cNvPr>
            <p:cNvSpPr/>
            <p:nvPr/>
          </p:nvSpPr>
          <p:spPr>
            <a:xfrm>
              <a:off x="5970258" y="600486"/>
              <a:ext cx="2014390" cy="355971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b="1">
                  <a:solidFill>
                    <a:schemeClr val="tx1"/>
                  </a:solidFill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ĐỐI SÁCH</a:t>
              </a:r>
            </a:p>
          </p:txBody>
        </p:sp>
      </p:grpSp>
      <p:sp>
        <p:nvSpPr>
          <p:cNvPr id="6" name="Arrow: Right 5">
            <a:extLst>
              <a:ext uri="{FF2B5EF4-FFF2-40B4-BE49-F238E27FC236}">
                <a16:creationId xmlns:a16="http://schemas.microsoft.com/office/drawing/2014/main" id="{7FFFA8C7-C1FC-F416-B09A-0D17EE2B8132}"/>
              </a:ext>
            </a:extLst>
          </p:cNvPr>
          <p:cNvSpPr/>
          <p:nvPr/>
        </p:nvSpPr>
        <p:spPr>
          <a:xfrm>
            <a:off x="5888274" y="2495181"/>
            <a:ext cx="237033" cy="29527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6D7156-A1F5-46DB-8EAC-42653589A1BD}"/>
              </a:ext>
            </a:extLst>
          </p:cNvPr>
          <p:cNvGrpSpPr/>
          <p:nvPr/>
        </p:nvGrpSpPr>
        <p:grpSpPr>
          <a:xfrm>
            <a:off x="6294989" y="1418747"/>
            <a:ext cx="4408494" cy="2959562"/>
            <a:chOff x="4923928" y="1171862"/>
            <a:chExt cx="3929167" cy="295956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D109B43-3A83-115C-C002-DA08DEAC22D9}"/>
                </a:ext>
              </a:extLst>
            </p:cNvPr>
            <p:cNvSpPr/>
            <p:nvPr/>
          </p:nvSpPr>
          <p:spPr>
            <a:xfrm>
              <a:off x="4924362" y="1171862"/>
              <a:ext cx="457200" cy="457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98606F7-2E8A-D158-B188-ED7140A0D90B}"/>
                </a:ext>
              </a:extLst>
            </p:cNvPr>
            <p:cNvGrpSpPr/>
            <p:nvPr/>
          </p:nvGrpSpPr>
          <p:grpSpPr>
            <a:xfrm>
              <a:off x="4923928" y="1178167"/>
              <a:ext cx="3929167" cy="2953257"/>
              <a:chOff x="4923928" y="1178167"/>
              <a:chExt cx="3929167" cy="2953257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292A176-EE33-0601-093D-4ADCC5CAD494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>
                <a:off x="5158890" y="1635367"/>
                <a:ext cx="2" cy="2496057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F252A6-16FC-05E4-D61C-3B3CAEDA76E2}"/>
                  </a:ext>
                </a:extLst>
              </p:cNvPr>
              <p:cNvSpPr/>
              <p:nvPr/>
            </p:nvSpPr>
            <p:spPr>
              <a:xfrm>
                <a:off x="4926668" y="263912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41464B-987A-AE47-E5AB-5FB6673B7D9F}"/>
                  </a:ext>
                </a:extLst>
              </p:cNvPr>
              <p:cNvSpPr txBox="1"/>
              <p:nvPr/>
            </p:nvSpPr>
            <p:spPr>
              <a:xfrm>
                <a:off x="5503435" y="1228513"/>
                <a:ext cx="3349660" cy="1167421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sách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</a:p>
              <a:p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ja-JP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・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1.1: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loại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tiền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tệ</a:t>
                </a:r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ja-JP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・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1.2: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Yêu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cầu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gửi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dữ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liệu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BA163B-1305-AFDC-A5DC-D098D76CEADE}"/>
                  </a:ext>
                </a:extLst>
              </p:cNvPr>
              <p:cNvSpPr txBox="1"/>
              <p:nvPr/>
            </p:nvSpPr>
            <p:spPr>
              <a:xfrm>
                <a:off x="5499168" y="2663443"/>
                <a:ext cx="3349660" cy="139137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sách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</a:t>
                </a:r>
              </a:p>
              <a:p>
                <a:endParaRPr lang="en-US" altLang="ja-JP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ja-JP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・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2.1: Sử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form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US" altLang="ja-JP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endParaRPr lang="en-US" altLang="ja-JP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ja-JP" alt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・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2.2: Sử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mềm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up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dữ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liệu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file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bổ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chung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4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altLang="ja-JP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file MP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74253C3-9C70-2BC6-BAC3-0BEC79864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4966786" y="2689704"/>
                <a:ext cx="371438" cy="366055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722BABA-1689-AD71-47DB-29D73E550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2880" b="96859" l="3467" r="97600">
                            <a14:foregroundMark x1="74133" y1="24607" x2="74400" y2="40314"/>
                            <a14:backgroundMark x1="15733" y1="15969" x2="15733" y2="15969"/>
                            <a14:backgroundMark x1="15733" y1="15969" x2="1867" y2="52356"/>
                            <a14:backgroundMark x1="2133" y1="53141" x2="7733" y2="74084"/>
                            <a14:backgroundMark x1="7733" y1="74084" x2="28267" y2="90052"/>
                            <a14:backgroundMark x1="4000" y1="49215" x2="3200" y2="51309"/>
                            <a14:backgroundMark x1="3200" y1="51309" x2="3200" y2="56283"/>
                            <a14:backgroundMark x1="16533" y1="16754" x2="33867" y2="5497"/>
                            <a14:backgroundMark x1="33867" y1="5497" x2="58933" y2="4188"/>
                            <a14:backgroundMark x1="58933" y1="4188" x2="62667" y2="5497"/>
                            <a14:backgroundMark x1="63733" y1="4188" x2="91467" y2="23822"/>
                            <a14:backgroundMark x1="89867" y1="25393" x2="97333" y2="51047"/>
                            <a14:backgroundMark x1="97333" y1="51047" x2="97333" y2="64136"/>
                            <a14:backgroundMark x1="95467" y1="63351" x2="85600" y2="85340"/>
                            <a14:backgroundMark x1="85600" y1="85340" x2="78667" y2="90576"/>
                            <a14:backgroundMark x1="87733" y1="78534" x2="70133" y2="90838"/>
                            <a14:backgroundMark x1="70133" y1="90838" x2="62133" y2="93194"/>
                            <a14:backgroundMark x1="65867" y1="94241" x2="24000" y2="90576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923928" y="1178167"/>
                <a:ext cx="469925" cy="457200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A0F880-5466-5547-4135-C6CBFF88F289}"/>
              </a:ext>
            </a:extLst>
          </p:cNvPr>
          <p:cNvGrpSpPr/>
          <p:nvPr/>
        </p:nvGrpSpPr>
        <p:grpSpPr>
          <a:xfrm>
            <a:off x="1662009" y="1418746"/>
            <a:ext cx="4034504" cy="2959564"/>
            <a:chOff x="290947" y="1171862"/>
            <a:chExt cx="4034504" cy="295956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2475DC-7FF1-E49E-C5EE-02C880CFA0E6}"/>
                </a:ext>
              </a:extLst>
            </p:cNvPr>
            <p:cNvCxnSpPr>
              <a:cxnSpLocks/>
            </p:cNvCxnSpPr>
            <p:nvPr/>
          </p:nvCxnSpPr>
          <p:spPr>
            <a:xfrm>
              <a:off x="511888" y="1194222"/>
              <a:ext cx="0" cy="2937204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F71A69E-16BA-5791-E358-67FCF0AC9E58}"/>
                </a:ext>
              </a:extLst>
            </p:cNvPr>
            <p:cNvSpPr/>
            <p:nvPr/>
          </p:nvSpPr>
          <p:spPr>
            <a:xfrm>
              <a:off x="290947" y="2648145"/>
              <a:ext cx="459392" cy="41578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5BF926A-68C0-A861-EEFA-E1247BB50DD9}"/>
                </a:ext>
              </a:extLst>
            </p:cNvPr>
            <p:cNvSpPr/>
            <p:nvPr/>
          </p:nvSpPr>
          <p:spPr>
            <a:xfrm>
              <a:off x="320278" y="1171862"/>
              <a:ext cx="447514" cy="47251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F42F04-46B3-ADE5-FC07-F93785E8B265}"/>
                </a:ext>
              </a:extLst>
            </p:cNvPr>
            <p:cNvSpPr txBox="1"/>
            <p:nvPr/>
          </p:nvSpPr>
          <p:spPr>
            <a:xfrm>
              <a:off x="819982" y="1226383"/>
              <a:ext cx="3505465" cy="95410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 </a:t>
              </a:r>
              <a:r>
                <a:rPr lang="en-US" altLang="ja-JP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endParaRPr lang="en-US" altLang="ja-JP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defRPr/>
              </a:pPr>
              <a:r>
                <a:rPr lang="vi-VN" sz="1400" b="1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Dữ liệu chi phí từ nhiều nguồn, chưa được chuẩn hóa</a:t>
              </a:r>
              <a:endParaRPr lang="en-US" altLang="ja-JP" sz="1400" dirty="0">
                <a:solidFill>
                  <a:prstClr val="black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5D664C-514B-F26E-859A-220C1950149C}"/>
                </a:ext>
              </a:extLst>
            </p:cNvPr>
            <p:cNvSpPr txBox="1"/>
            <p:nvPr/>
          </p:nvSpPr>
          <p:spPr>
            <a:xfrm>
              <a:off x="829710" y="2669826"/>
              <a:ext cx="3495741" cy="738664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 </a:t>
              </a:r>
              <a:r>
                <a:rPr lang="en-US" altLang="ja-JP" sz="1400" b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altLang="ja-JP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  <a:r>
                <a:rPr lang="en-US" altLang="ja-JP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endParaRPr lang="en-US" altLang="ja-JP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defRPr/>
              </a:pP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Chủ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yếu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thao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thủ</a:t>
              </a:r>
              <a:r>
                <a:rPr lang="en-GB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400" b="1" kern="0" err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endParaRPr lang="en-GB" sz="1400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図 133">
              <a:extLst>
                <a:ext uri="{FF2B5EF4-FFF2-40B4-BE49-F238E27FC236}">
                  <a16:creationId xmlns:a16="http://schemas.microsoft.com/office/drawing/2014/main" id="{9AC66D88-2FC8-A172-34D9-9434DD339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133" y="1218099"/>
              <a:ext cx="330674" cy="332630"/>
            </a:xfrm>
            <a:prstGeom prst="rect">
              <a:avLst/>
            </a:prstGeom>
          </p:spPr>
        </p:pic>
        <p:pic>
          <p:nvPicPr>
            <p:cNvPr id="23" name="図 137">
              <a:extLst>
                <a:ext uri="{FF2B5EF4-FFF2-40B4-BE49-F238E27FC236}">
                  <a16:creationId xmlns:a16="http://schemas.microsoft.com/office/drawing/2014/main" id="{EF344C34-A8FE-872B-7A21-8FC0B7C29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724" y="2720807"/>
              <a:ext cx="336906" cy="291054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EA4CE9-5956-4673-FF8B-E46D05AA57B0}"/>
              </a:ext>
            </a:extLst>
          </p:cNvPr>
          <p:cNvGrpSpPr/>
          <p:nvPr/>
        </p:nvGrpSpPr>
        <p:grpSpPr>
          <a:xfrm>
            <a:off x="1561850" y="896548"/>
            <a:ext cx="4237578" cy="3481762"/>
            <a:chOff x="190789" y="649662"/>
            <a:chExt cx="4237578" cy="529944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01255C0-D6B4-02B0-62CA-E58A1A5A08DA}"/>
                </a:ext>
              </a:extLst>
            </p:cNvPr>
            <p:cNvSpPr/>
            <p:nvPr/>
          </p:nvSpPr>
          <p:spPr>
            <a:xfrm>
              <a:off x="1183932" y="649662"/>
              <a:ext cx="2015048" cy="316427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 NHÂN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6B95D0F-E4F9-95C9-9AEA-D1B28EE493A4}"/>
                </a:ext>
              </a:extLst>
            </p:cNvPr>
            <p:cNvSpPr/>
            <p:nvPr/>
          </p:nvSpPr>
          <p:spPr>
            <a:xfrm>
              <a:off x="190789" y="1006327"/>
              <a:ext cx="4237578" cy="494277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739A6-F17B-16DD-67F3-0CB135A2C68B}"/>
              </a:ext>
            </a:extLst>
          </p:cNvPr>
          <p:cNvSpPr/>
          <p:nvPr/>
        </p:nvSpPr>
        <p:spPr>
          <a:xfrm>
            <a:off x="3680639" y="71926"/>
            <a:ext cx="52100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Xem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41D134-9ABE-2DCA-8096-5CAA76856683}"/>
              </a:ext>
            </a:extLst>
          </p:cNvPr>
          <p:cNvCxnSpPr>
            <a:cxnSpLocks/>
          </p:cNvCxnSpPr>
          <p:nvPr/>
        </p:nvCxnSpPr>
        <p:spPr>
          <a:xfrm>
            <a:off x="1507539" y="715864"/>
            <a:ext cx="90075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62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94598-8599-6070-67F3-5C57E4EF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10</a:t>
            </a:fld>
            <a:endParaRPr kumimoji="1" lang="ja-V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B0F586-E6C4-3523-452C-7A6397F0F23E}"/>
              </a:ext>
            </a:extLst>
          </p:cNvPr>
          <p:cNvSpPr/>
          <p:nvPr/>
        </p:nvSpPr>
        <p:spPr>
          <a:xfrm>
            <a:off x="3360015" y="70703"/>
            <a:ext cx="5920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Làm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4D53C-2D2E-64F2-33CD-48E79BCC9D9D}"/>
              </a:ext>
            </a:extLst>
          </p:cNvPr>
          <p:cNvSpPr txBox="1"/>
          <p:nvPr/>
        </p:nvSpPr>
        <p:spPr>
          <a:xfrm>
            <a:off x="788908" y="656903"/>
            <a:ext cx="10157765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2.2: Sử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MP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83DCE-D313-A674-4706-B7482474CE30}"/>
              </a:ext>
            </a:extLst>
          </p:cNvPr>
          <p:cNvSpPr txBox="1"/>
          <p:nvPr/>
        </p:nvSpPr>
        <p:spPr>
          <a:xfrm>
            <a:off x="1050166" y="1092535"/>
            <a:ext cx="4479778" cy="32373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endParaRPr lang="en-US" altLang="ja-JP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MP:</a:t>
            </a:r>
          </a:p>
          <a:p>
            <a:endParaRPr lang="en-US" altLang="ja-JP" sz="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ja-JP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altLang="ja-JP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5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khấu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hao,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lãi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endParaRPr lang="en-US" altLang="ja-JP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7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ja-JP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altLang="ja-JP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lang="en-US" altLang="ja-JP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altLang="ja-JP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19A4D-BC6C-93A2-508D-41AA3347B5A6}"/>
              </a:ext>
            </a:extLst>
          </p:cNvPr>
          <p:cNvSpPr txBox="1"/>
          <p:nvPr/>
        </p:nvSpPr>
        <p:spPr>
          <a:xfrm>
            <a:off x="6810104" y="1092536"/>
            <a:ext cx="4479778" cy="1112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endParaRPr lang="en-US" altLang="ja-JP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00E83-5859-8C32-4C78-54E293C26795}"/>
              </a:ext>
            </a:extLst>
          </p:cNvPr>
          <p:cNvSpPr txBox="1"/>
          <p:nvPr/>
        </p:nvSpPr>
        <p:spPr>
          <a:xfrm>
            <a:off x="6810104" y="2299242"/>
            <a:ext cx="4479778" cy="3764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ja-JP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ja-JP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altLang="ja-JP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0BAE38-A738-E1C7-E639-EE4056EEB793}"/>
              </a:ext>
            </a:extLst>
          </p:cNvPr>
          <p:cNvSpPr txBox="1"/>
          <p:nvPr/>
        </p:nvSpPr>
        <p:spPr>
          <a:xfrm>
            <a:off x="6818812" y="3778182"/>
            <a:ext cx="4479778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altLang="ja-JP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8DE3D-F207-F941-A9B6-0FFC361824A7}"/>
              </a:ext>
            </a:extLst>
          </p:cNvPr>
          <p:cNvSpPr txBox="1"/>
          <p:nvPr/>
        </p:nvSpPr>
        <p:spPr>
          <a:xfrm>
            <a:off x="6810104" y="3407865"/>
            <a:ext cx="4479778" cy="370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ja-JP" alt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ja-JP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lang="en-US" altLang="ja-JP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31724-5D27-AA72-CDC5-AAF10C05ECC2}"/>
              </a:ext>
            </a:extLst>
          </p:cNvPr>
          <p:cNvSpPr txBox="1"/>
          <p:nvPr/>
        </p:nvSpPr>
        <p:spPr>
          <a:xfrm>
            <a:off x="6810104" y="2678574"/>
            <a:ext cx="4479778" cy="3764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ja-JP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khấu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hao,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lãi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endParaRPr lang="en-US" altLang="ja-JP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97AC5-2B22-3D2A-7F88-BDC5388D149A}"/>
              </a:ext>
            </a:extLst>
          </p:cNvPr>
          <p:cNvSpPr txBox="1"/>
          <p:nvPr/>
        </p:nvSpPr>
        <p:spPr>
          <a:xfrm>
            <a:off x="6818812" y="3043235"/>
            <a:ext cx="4479778" cy="3764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ja-JP" alt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lang="en-US" altLang="ja-JP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ja-JP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altLang="ja-JP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C31CD6-E7F6-A5B7-3B24-71156478CA32}"/>
              </a:ext>
            </a:extLst>
          </p:cNvPr>
          <p:cNvSpPr txBox="1"/>
          <p:nvPr/>
        </p:nvSpPr>
        <p:spPr>
          <a:xfrm>
            <a:off x="1153744" y="4438689"/>
            <a:ext cx="1005984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</a:t>
            </a:r>
            <a:endParaRPr lang="en-US" altLang="ja-JP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98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05BBA-E5B3-5BD4-647C-5E6D7F9D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11</a:t>
            </a:fld>
            <a:endParaRPr kumimoji="1" lang="ja-V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ABA46-A192-89D4-AF90-79BA7E24EF79}"/>
              </a:ext>
            </a:extLst>
          </p:cNvPr>
          <p:cNvSpPr txBox="1"/>
          <p:nvPr/>
        </p:nvSpPr>
        <p:spPr>
          <a:xfrm>
            <a:off x="823743" y="707390"/>
            <a:ext cx="10157765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2.1: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form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altLang="ja-JP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E8D90-5345-1D1A-1F37-03DD20A26160}"/>
              </a:ext>
            </a:extLst>
          </p:cNvPr>
          <p:cNvSpPr txBox="1"/>
          <p:nvPr/>
        </p:nvSpPr>
        <p:spPr>
          <a:xfrm>
            <a:off x="1085001" y="1143023"/>
            <a:ext cx="4479778" cy="180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endParaRPr lang="en-US" altLang="ja-JP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49B52-623F-3BCB-6BA9-1AC0C001B2FC}"/>
              </a:ext>
            </a:extLst>
          </p:cNvPr>
          <p:cNvSpPr txBox="1"/>
          <p:nvPr/>
        </p:nvSpPr>
        <p:spPr>
          <a:xfrm>
            <a:off x="6693321" y="1127805"/>
            <a:ext cx="4479778" cy="14586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ja-JP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endParaRPr lang="en-US" altLang="ja-JP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ja-JP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ja-JP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35366-7C41-3B27-D42E-EC3F34CE8264}"/>
              </a:ext>
            </a:extLst>
          </p:cNvPr>
          <p:cNvSpPr txBox="1"/>
          <p:nvPr/>
        </p:nvSpPr>
        <p:spPr>
          <a:xfrm>
            <a:off x="1015335" y="3411481"/>
            <a:ext cx="1074724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LINK</a:t>
            </a:r>
            <a:endParaRPr lang="en-US" altLang="ja-JP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BD3DD6-4367-31EB-03A6-BFF36007E715}"/>
              </a:ext>
            </a:extLst>
          </p:cNvPr>
          <p:cNvSpPr/>
          <p:nvPr/>
        </p:nvSpPr>
        <p:spPr>
          <a:xfrm>
            <a:off x="2499362" y="2717074"/>
            <a:ext cx="7550329" cy="18810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14FA86-F1A1-578A-A6CB-B658E67BCC92}"/>
              </a:ext>
            </a:extLst>
          </p:cNvPr>
          <p:cNvSpPr/>
          <p:nvPr/>
        </p:nvSpPr>
        <p:spPr>
          <a:xfrm>
            <a:off x="3360015" y="70703"/>
            <a:ext cx="5920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Làm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3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32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3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3158-52EB-0721-5124-25DE6128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0FA9DE-6940-456B-675E-4C8CAD7F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12</a:t>
            </a:fld>
            <a:endParaRPr kumimoji="1" lang="ja-VN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701133-331A-B648-AB69-528F50B09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8"/>
          <a:stretch>
            <a:fillRect/>
          </a:stretch>
        </p:blipFill>
        <p:spPr>
          <a:xfrm>
            <a:off x="290261" y="1492691"/>
            <a:ext cx="11611478" cy="41508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B0E13D-15D4-144F-562C-6A010B531FF0}"/>
              </a:ext>
            </a:extLst>
          </p:cNvPr>
          <p:cNvSpPr txBox="1"/>
          <p:nvPr/>
        </p:nvSpPr>
        <p:spPr>
          <a:xfrm>
            <a:off x="1596547" y="787782"/>
            <a:ext cx="4157561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4E5AA6-0304-FBAF-C3E3-8B6834F9C67B}"/>
              </a:ext>
            </a:extLst>
          </p:cNvPr>
          <p:cNvSpPr/>
          <p:nvPr/>
        </p:nvSpPr>
        <p:spPr>
          <a:xfrm>
            <a:off x="3377432" y="131663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Làm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28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2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CA567-4C83-E5E5-0755-828BBB1D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13</a:t>
            </a:fld>
            <a:endParaRPr kumimoji="1" lang="ja-V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99EEB-D82F-CF6B-633C-EF5BE53815BB}"/>
              </a:ext>
            </a:extLst>
          </p:cNvPr>
          <p:cNvSpPr txBox="1"/>
          <p:nvPr/>
        </p:nvSpPr>
        <p:spPr>
          <a:xfrm>
            <a:off x="1654830" y="787782"/>
            <a:ext cx="4157561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chi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6C4B111-E953-6077-CED7-36015B4E80D3}"/>
              </a:ext>
            </a:extLst>
          </p:cNvPr>
          <p:cNvSpPr/>
          <p:nvPr/>
        </p:nvSpPr>
        <p:spPr>
          <a:xfrm>
            <a:off x="1038798" y="1371460"/>
            <a:ext cx="10114404" cy="835208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17040" tIns="76200" rIns="76201" bIns="76200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phí phân bổ từ thiết bị</a:t>
            </a:r>
            <a:endParaRPr lang="en-US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vi-VN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phí khấu hao, lãi nhà đất</a:t>
            </a:r>
            <a:endParaRPr lang="en-US" sz="14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sz="14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68AB436-AE90-75A1-7BFC-3D5EDC47545C}"/>
              </a:ext>
            </a:extLst>
          </p:cNvPr>
          <p:cNvSpPr/>
          <p:nvPr/>
        </p:nvSpPr>
        <p:spPr>
          <a:xfrm>
            <a:off x="1038798" y="2241089"/>
            <a:ext cx="10133674" cy="982096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9420" tIns="68580" rIns="68581" bIns="68580" numCol="1" spcCol="1270" anchor="t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sz="18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khấu</a:t>
            </a: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hao TSCĐ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lãi</a:t>
            </a:r>
            <a:r>
              <a:rPr lang="en-US" sz="14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TSCĐ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8A277B1-3A1C-59CB-4CC6-F5321EFDC898}"/>
              </a:ext>
            </a:extLst>
          </p:cNvPr>
          <p:cNvSpPr/>
          <p:nvPr/>
        </p:nvSpPr>
        <p:spPr>
          <a:xfrm>
            <a:off x="1038798" y="3257462"/>
            <a:ext cx="10114404" cy="884630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9420" tIns="68580" rIns="68581" bIns="6858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ja-JP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ja-JP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ja-JP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ja-JP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altLang="ja-JP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ja-JP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</a:t>
            </a:r>
          </a:p>
          <a:p>
            <a:pPr marL="114300" lvl="1" indent="-1143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</a:p>
          <a:p>
            <a:pPr marL="114300" lvl="1" indent="-1143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R3, VPN, VPS,…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7ED546-371D-E83B-B26E-39CB777BD36B}"/>
              </a:ext>
            </a:extLst>
          </p:cNvPr>
          <p:cNvSpPr/>
          <p:nvPr/>
        </p:nvSpPr>
        <p:spPr>
          <a:xfrm>
            <a:off x="1038798" y="4201208"/>
            <a:ext cx="10133674" cy="2271275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2750" tIns="41910" rIns="41911" bIns="41910" numCol="1" spcCol="1270" anchor="t" anchorCtr="0">
            <a:noAutofit/>
          </a:bodyPr>
          <a:lstStyle/>
          <a:p>
            <a:pPr marL="0" lvl="0" indent="0" algn="l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16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lvl="1" indent="-57150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vi-VN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phí tiêu hao (gas, nước rửa tay, giấy vệ sinh)</a:t>
            </a:r>
            <a:endParaRPr lang="en-US" sz="12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lvl="1" indent="-57150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phi dịch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(Chi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sạch)</a:t>
            </a:r>
          </a:p>
          <a:p>
            <a:pPr marL="57150" lvl="1" indent="-57150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(Chi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túi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bút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triết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,…)</a:t>
            </a:r>
          </a:p>
          <a:p>
            <a:pPr marL="57150" lvl="1" indent="-57150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endParaRPr lang="en-US" sz="12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Chi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endParaRPr lang="en-US" sz="12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Chi phí khám sức khỏe định kỳ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Chi phí du lịch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Chi phí bánh trung thu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Chi phí lễ hội mùa thu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2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Chi phí đại hội thể thao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8F4A09-2F16-5E25-6285-663213D7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12" y="1410493"/>
            <a:ext cx="811699" cy="76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ED20B5-3E7D-3F62-7362-1D0F71261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830" y="2279129"/>
            <a:ext cx="883657" cy="880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D4C0E8-B990-6CFA-3F9D-7A9382809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830" y="3306814"/>
            <a:ext cx="926495" cy="785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8614C0-02C0-6647-44DC-1EEB69480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54" y="4648404"/>
            <a:ext cx="1637139" cy="130721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D35F40-6B1A-4BCC-5F3A-232EC64FD2F7}"/>
              </a:ext>
            </a:extLst>
          </p:cNvPr>
          <p:cNvSpPr/>
          <p:nvPr/>
        </p:nvSpPr>
        <p:spPr>
          <a:xfrm>
            <a:off x="3377432" y="131663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Làm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28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06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95697-FA2F-13D6-0258-E9730AD8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28" y="4966555"/>
            <a:ext cx="779767" cy="365125"/>
          </a:xfrm>
        </p:spPr>
        <p:txBody>
          <a:bodyPr/>
          <a:lstStyle/>
          <a:p>
            <a:fld id="{F2E3B4ED-CC1B-714C-AC64-E02BE599682D}" type="slidenum">
              <a:rPr kumimoji="1" lang="ja-VN" altLang="en-US" smtClean="0"/>
              <a:t>14</a:t>
            </a:fld>
            <a:endParaRPr kumimoji="1" lang="ja-V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91076-17F9-3CC6-E039-C961B4647B9F}"/>
              </a:ext>
            </a:extLst>
          </p:cNvPr>
          <p:cNvSpPr txBox="1"/>
          <p:nvPr/>
        </p:nvSpPr>
        <p:spPr>
          <a:xfrm>
            <a:off x="1700896" y="575111"/>
            <a:ext cx="4157561" cy="435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55EA393-57D8-E331-BCCD-A7AB4A87287E}"/>
              </a:ext>
            </a:extLst>
          </p:cNvPr>
          <p:cNvSpPr/>
          <p:nvPr/>
        </p:nvSpPr>
        <p:spPr>
          <a:xfrm>
            <a:off x="1681626" y="1013360"/>
            <a:ext cx="10133674" cy="982096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9420" tIns="68580" rIns="68581" bIns="68580" numCol="1" spcCol="1270" anchor="t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sz="18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Các phòng có nhiều TSCĐ thì chưa chạy được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F10745F-C6F1-4B50-96F6-49A03F5B361B}"/>
              </a:ext>
            </a:extLst>
          </p:cNvPr>
          <p:cNvSpPr/>
          <p:nvPr/>
        </p:nvSpPr>
        <p:spPr>
          <a:xfrm>
            <a:off x="1700896" y="4301063"/>
            <a:ext cx="10114404" cy="884630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9420" tIns="68580" rIns="68581" bIns="6858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altLang="ja-JP" sz="18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 điền được mô tả cho các chi phí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632350D-8D16-9D39-DAB5-B808AE354C05}"/>
              </a:ext>
            </a:extLst>
          </p:cNvPr>
          <p:cNvSpPr/>
          <p:nvPr/>
        </p:nvSpPr>
        <p:spPr>
          <a:xfrm>
            <a:off x="1681626" y="2033496"/>
            <a:ext cx="10133674" cy="2201608"/>
          </a:xfrm>
          <a:custGeom>
            <a:avLst/>
            <a:gdLst>
              <a:gd name="csX0" fmla="*/ 0 w 10578010"/>
              <a:gd name="csY0" fmla="*/ 125238 h 1252383"/>
              <a:gd name="csX1" fmla="*/ 125238 w 10578010"/>
              <a:gd name="csY1" fmla="*/ 0 h 1252383"/>
              <a:gd name="csX2" fmla="*/ 10452772 w 10578010"/>
              <a:gd name="csY2" fmla="*/ 0 h 1252383"/>
              <a:gd name="csX3" fmla="*/ 10578010 w 10578010"/>
              <a:gd name="csY3" fmla="*/ 125238 h 1252383"/>
              <a:gd name="csX4" fmla="*/ 10578010 w 10578010"/>
              <a:gd name="csY4" fmla="*/ 1127145 h 1252383"/>
              <a:gd name="csX5" fmla="*/ 10452772 w 10578010"/>
              <a:gd name="csY5" fmla="*/ 1252383 h 1252383"/>
              <a:gd name="csX6" fmla="*/ 125238 w 10578010"/>
              <a:gd name="csY6" fmla="*/ 1252383 h 1252383"/>
              <a:gd name="csX7" fmla="*/ 0 w 10578010"/>
              <a:gd name="csY7" fmla="*/ 1127145 h 1252383"/>
              <a:gd name="csX8" fmla="*/ 0 w 10578010"/>
              <a:gd name="csY8" fmla="*/ 125238 h 125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578010" h="1252383">
                <a:moveTo>
                  <a:pt x="0" y="125238"/>
                </a:moveTo>
                <a:cubicBezTo>
                  <a:pt x="0" y="56071"/>
                  <a:pt x="56071" y="0"/>
                  <a:pt x="125238" y="0"/>
                </a:cubicBezTo>
                <a:lnTo>
                  <a:pt x="10452772" y="0"/>
                </a:lnTo>
                <a:cubicBezTo>
                  <a:pt x="10521939" y="0"/>
                  <a:pt x="10578010" y="56071"/>
                  <a:pt x="10578010" y="125238"/>
                </a:cubicBezTo>
                <a:lnTo>
                  <a:pt x="10578010" y="1127145"/>
                </a:lnTo>
                <a:cubicBezTo>
                  <a:pt x="10578010" y="1196312"/>
                  <a:pt x="10521939" y="1252383"/>
                  <a:pt x="10452772" y="1252383"/>
                </a:cubicBezTo>
                <a:lnTo>
                  <a:pt x="125238" y="1252383"/>
                </a:lnTo>
                <a:cubicBezTo>
                  <a:pt x="56071" y="1252383"/>
                  <a:pt x="0" y="1196312"/>
                  <a:pt x="0" y="1127145"/>
                </a:cubicBezTo>
                <a:lnTo>
                  <a:pt x="0" y="12523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2750" tIns="41910" rIns="41911" bIns="41910" numCol="1" spcCol="1270" anchor="t" anchorCtr="0">
            <a:noAutofit/>
          </a:bodyPr>
          <a:lstStyle/>
          <a:p>
            <a:pPr marL="0" lvl="0" indent="0" algn="l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20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0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0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20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lvl="1" indent="-57150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(Chi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túi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bút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triết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,…)</a:t>
            </a:r>
          </a:p>
          <a:p>
            <a:pPr marL="57150" lvl="1" indent="-57150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endParaRPr lang="en-US" sz="16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vi-VN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Chi phí xe bus người JP, VN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vi-VN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+ Chi phí khám sức khỏe người mới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vi-VN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+ Chi phí event còn lại (Chi phí tham gia tiệc FY mới, Khuấy động FY mới, Viết luận văn,…)</a:t>
            </a:r>
          </a:p>
          <a:p>
            <a:pPr marL="0" lvl="1" algn="l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00" kern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2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endParaRPr lang="en-US" sz="1600" kern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FA4EA-AADB-9EAE-3874-35DA165F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58" y="1051400"/>
            <a:ext cx="883657" cy="880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C801DB-E2C5-27B3-60E2-BA3B43BEB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597" y="4363192"/>
            <a:ext cx="926495" cy="785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0DDE47-7CDF-A69E-220F-047B03E34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982" y="2480690"/>
            <a:ext cx="1637139" cy="130721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327D5C0-CD11-094D-2127-FD6907528163}"/>
              </a:ext>
            </a:extLst>
          </p:cNvPr>
          <p:cNvGrpSpPr/>
          <p:nvPr/>
        </p:nvGrpSpPr>
        <p:grpSpPr>
          <a:xfrm>
            <a:off x="2067918" y="5317494"/>
            <a:ext cx="9198864" cy="1456437"/>
            <a:chOff x="1554111" y="5317494"/>
            <a:chExt cx="9198864" cy="14564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F61CEA2-DE2A-C595-4DF0-CA7B321BE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82" r="19592"/>
            <a:stretch>
              <a:fillRect/>
            </a:stretch>
          </p:blipFill>
          <p:spPr>
            <a:xfrm>
              <a:off x="1554111" y="5317494"/>
              <a:ext cx="1874889" cy="1456437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92E43E-C861-DDFA-221F-BF46CB23A1B2}"/>
                </a:ext>
              </a:extLst>
            </p:cNvPr>
            <p:cNvGrpSpPr/>
            <p:nvPr/>
          </p:nvGrpSpPr>
          <p:grpSpPr>
            <a:xfrm>
              <a:off x="3563251" y="5466277"/>
              <a:ext cx="7189724" cy="884630"/>
              <a:chOff x="3563251" y="5466277"/>
              <a:chExt cx="7189724" cy="884630"/>
            </a:xfrm>
          </p:grpSpPr>
          <p:sp>
            <p:nvSpPr>
              <p:cNvPr id="15" name="Wave 14">
                <a:extLst>
                  <a:ext uri="{FF2B5EF4-FFF2-40B4-BE49-F238E27FC236}">
                    <a16:creationId xmlns:a16="http://schemas.microsoft.com/office/drawing/2014/main" id="{44FA2669-78F0-D281-58DF-BB5DF5C8F909}"/>
                  </a:ext>
                </a:extLst>
              </p:cNvPr>
              <p:cNvSpPr/>
              <p:nvPr/>
            </p:nvSpPr>
            <p:spPr>
              <a:xfrm>
                <a:off x="3563251" y="5466277"/>
                <a:ext cx="7189724" cy="884630"/>
              </a:xfrm>
              <a:prstGeom prst="wav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95E9F22-2F84-466B-EB8F-1FAEC0435EE6}"/>
                  </a:ext>
                </a:extLst>
              </p:cNvPr>
              <p:cNvSpPr/>
              <p:nvPr/>
            </p:nvSpPr>
            <p:spPr>
              <a:xfrm rot="150406">
                <a:off x="4362467" y="5653815"/>
                <a:ext cx="5923523" cy="52714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Wave1">
                  <a:avLst/>
                </a:prstTxWarp>
                <a:spAutoFit/>
              </a:bodyPr>
              <a:lstStyle/>
              <a:p>
                <a:pPr algn="ctr"/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Tháng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gắng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thiện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hạng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mục</a:t>
                </a:r>
                <a:r>
                  <a:rPr lang="en-US" sz="11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!!! </a:t>
                </a: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8D41ABF-164E-DEC4-CCC1-E4572C79B41C}"/>
              </a:ext>
            </a:extLst>
          </p:cNvPr>
          <p:cNvSpPr/>
          <p:nvPr/>
        </p:nvSpPr>
        <p:spPr>
          <a:xfrm>
            <a:off x="3377432" y="131663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Làm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28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37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A427DA-04E8-EDFF-A85F-3229EE78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685" y="658944"/>
            <a:ext cx="8131550" cy="612507"/>
          </a:xfrm>
        </p:spPr>
        <p:txBody>
          <a:bodyPr>
            <a:normAutofit/>
          </a:bodyPr>
          <a:lstStyle/>
          <a:p>
            <a:r>
              <a:rPr kumimoji="1" lang="en-US" altLang="ja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1" lang="en-US" altLang="ja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kumimoji="1" lang="en-US" altLang="ja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kumimoji="1" lang="en-US" altLang="ja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1" lang="ja-V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FBE3D5-CAB4-E888-DE0C-6C33D9018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0225" y="1290113"/>
            <a:ext cx="8131550" cy="23253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file Danh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AutoNum type="arabicPeriod"/>
            </a:pP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endParaRPr kumimoji="1" lang="en-US" altLang="ja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kumimoji="1" lang="vi-VN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các chi phí không có tháng phân bổ chính xác</a:t>
            </a:r>
          </a:p>
          <a:p>
            <a:pPr marL="514350" indent="-514350">
              <a:buAutoNum type="arabicPeriod"/>
            </a:pP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endParaRPr kumimoji="1" lang="en-US" altLang="ja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kumimoji="1" lang="en-US" altLang="ja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kumimoji="1" lang="en-US" altLang="ja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khấu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hao,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lãi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kumimoji="1" lang="en-US" altLang="ja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kumimoji="1" lang="en-US" altLang="ja-V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C2123A6-211C-14B1-593B-C003436E8B1F}"/>
              </a:ext>
            </a:extLst>
          </p:cNvPr>
          <p:cNvSpPr txBox="1">
            <a:spLocks/>
          </p:cNvSpPr>
          <p:nvPr/>
        </p:nvSpPr>
        <p:spPr>
          <a:xfrm>
            <a:off x="1770685" y="3836028"/>
            <a:ext cx="3060157" cy="776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ja-V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Video test </a:t>
            </a:r>
            <a:r>
              <a:rPr kumimoji="1" lang="en-US" altLang="ja-VN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phần</a:t>
            </a:r>
            <a:r>
              <a:rPr kumimoji="1" lang="en-US" altLang="ja-V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kumimoji="1" lang="en-US" altLang="ja-VN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mềm</a:t>
            </a:r>
            <a:endParaRPr kumimoji="1" lang="vi-VN" altLang="ja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681A-C4B1-9448-ECD7-D867ADDA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B4ED-CC1B-714C-AC64-E02BE599682D}" type="slidenum">
              <a:rPr kumimoji="1" lang="ja-VN" altLang="en-US" smtClean="0"/>
              <a:t>15</a:t>
            </a:fld>
            <a:endParaRPr kumimoji="1" lang="ja-V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81A89-BCFE-3E8B-5DA3-F275FB25269E}"/>
              </a:ext>
            </a:extLst>
          </p:cNvPr>
          <p:cNvSpPr/>
          <p:nvPr/>
        </p:nvSpPr>
        <p:spPr>
          <a:xfrm>
            <a:off x="3377432" y="131663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Làm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1"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kumimoji="1" lang="ja-JP" altLang="en-US" sz="28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94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2292-CF6F-C0AD-CC49-A71359DA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ổng hợp 50+ hình ảnh cảm ơn cuối slide và những lời cảm ơn cuối bài ...">
            <a:extLst>
              <a:ext uri="{FF2B5EF4-FFF2-40B4-BE49-F238E27FC236}">
                <a16:creationId xmlns:a16="http://schemas.microsoft.com/office/drawing/2014/main" id="{86FBB28F-3CD2-3E0E-D315-BFF574042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390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613</TotalTime>
  <Words>1198</Words>
  <Application>Microsoft Office PowerPoint</Application>
  <PresentationFormat>Widescreen</PresentationFormat>
  <Paragraphs>193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Cambria</vt:lpstr>
      <vt:lpstr>Century Gothic</vt:lpstr>
      <vt:lpstr>Times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Điểm khó khăn: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Điểm khó khăn:</dc:title>
  <dc:creator>Microsoft Office User</dc:creator>
  <cp:lastModifiedBy>Nguyễn Thị Phương Anh(Nguyen Thi Phuong Anh)</cp:lastModifiedBy>
  <cp:revision>5</cp:revision>
  <dcterms:created xsi:type="dcterms:W3CDTF">2026-07-09T00:14:47Z</dcterms:created>
  <dcterms:modified xsi:type="dcterms:W3CDTF">2026-07-09T11:35:51Z</dcterms:modified>
</cp:coreProperties>
</file>